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Poppins Bold" charset="1" panose="00000800000000000000"/>
      <p:regular r:id="rId22"/>
    </p:embeddedFont>
    <p:embeddedFont>
      <p:font typeface="Nunito Bold" charset="1" panose="00000000000000000000"/>
      <p:regular r:id="rId23"/>
    </p:embeddedFont>
    <p:embeddedFont>
      <p:font typeface="Nunito"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2.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19.png" Type="http://schemas.openxmlformats.org/officeDocument/2006/relationships/image"/><Relationship Id="rId8" Target="../media/image20.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svg" Type="http://schemas.openxmlformats.org/officeDocument/2006/relationships/image"/><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21.png" Type="http://schemas.openxmlformats.org/officeDocument/2006/relationships/image"/><Relationship Id="rId8" Target="../media/image22.svg" Type="http://schemas.openxmlformats.org/officeDocument/2006/relationships/image"/><Relationship Id="rId9" Target="../media/image2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9.png" Type="http://schemas.openxmlformats.org/officeDocument/2006/relationships/image"/><Relationship Id="rId6" Target="../media/image30.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31.png" Type="http://schemas.openxmlformats.org/officeDocument/2006/relationships/image"/><Relationship Id="rId6" Target="../media/image32.svg" Type="http://schemas.openxmlformats.org/officeDocument/2006/relationships/image"/><Relationship Id="rId7" Target="../media/image33.png" Type="http://schemas.openxmlformats.org/officeDocument/2006/relationships/image"/><Relationship Id="rId8" Target="../media/image34.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3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true" flipV="false" rot="-10800000">
            <a:off x="-286411" y="-257175"/>
            <a:ext cx="4162891" cy="3554068"/>
          </a:xfrm>
          <a:custGeom>
            <a:avLst/>
            <a:gdLst/>
            <a:ahLst/>
            <a:cxnLst/>
            <a:rect r="r" b="b" t="t" l="l"/>
            <a:pathLst>
              <a:path h="3554068" w="4162891">
                <a:moveTo>
                  <a:pt x="4162891" y="0"/>
                </a:moveTo>
                <a:lnTo>
                  <a:pt x="0" y="0"/>
                </a:lnTo>
                <a:lnTo>
                  <a:pt x="0" y="3554068"/>
                </a:lnTo>
                <a:lnTo>
                  <a:pt x="4162891" y="3554068"/>
                </a:lnTo>
                <a:lnTo>
                  <a:pt x="4162891"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4780620" y="7400881"/>
            <a:ext cx="3682330" cy="3143789"/>
          </a:xfrm>
          <a:custGeom>
            <a:avLst/>
            <a:gdLst/>
            <a:ahLst/>
            <a:cxnLst/>
            <a:rect r="r" b="b" t="t" l="l"/>
            <a:pathLst>
              <a:path h="3143789" w="3682330">
                <a:moveTo>
                  <a:pt x="3682330" y="0"/>
                </a:moveTo>
                <a:lnTo>
                  <a:pt x="0" y="0"/>
                </a:lnTo>
                <a:lnTo>
                  <a:pt x="0" y="3143788"/>
                </a:lnTo>
                <a:lnTo>
                  <a:pt x="3682330" y="3143788"/>
                </a:lnTo>
                <a:lnTo>
                  <a:pt x="368233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513192" y="8503992"/>
            <a:ext cx="3083785" cy="2790825"/>
          </a:xfrm>
          <a:custGeom>
            <a:avLst/>
            <a:gdLst/>
            <a:ahLst/>
            <a:cxnLst/>
            <a:rect r="r" b="b" t="t" l="l"/>
            <a:pathLst>
              <a:path h="2790825" w="3083785">
                <a:moveTo>
                  <a:pt x="0" y="0"/>
                </a:moveTo>
                <a:lnTo>
                  <a:pt x="3083784" y="0"/>
                </a:lnTo>
                <a:lnTo>
                  <a:pt x="3083784" y="2790825"/>
                </a:lnTo>
                <a:lnTo>
                  <a:pt x="0" y="279082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6" id="6"/>
          <p:cNvSpPr txBox="true"/>
          <p:nvPr/>
        </p:nvSpPr>
        <p:spPr>
          <a:xfrm rot="0">
            <a:off x="1028700" y="3115918"/>
            <a:ext cx="9404866" cy="1095370"/>
          </a:xfrm>
          <a:prstGeom prst="rect">
            <a:avLst/>
          </a:prstGeom>
        </p:spPr>
        <p:txBody>
          <a:bodyPr anchor="t" rtlCol="false" tIns="0" lIns="0" bIns="0" rIns="0">
            <a:spAutoFit/>
          </a:bodyPr>
          <a:lstStyle/>
          <a:p>
            <a:pPr algn="just">
              <a:lnSpc>
                <a:spcPts val="8400"/>
              </a:lnSpc>
              <a:spcBef>
                <a:spcPct val="0"/>
              </a:spcBef>
            </a:pPr>
            <a:r>
              <a:rPr lang="en-US" b="true" sz="6000">
                <a:solidFill>
                  <a:srgbClr val="000000"/>
                </a:solidFill>
                <a:latin typeface="Poppins Bold"/>
                <a:ea typeface="Poppins Bold"/>
                <a:cs typeface="Poppins Bold"/>
                <a:sym typeface="Poppins Bold"/>
              </a:rPr>
              <a:t>AI SMART STUDY RISK  &amp;</a:t>
            </a:r>
          </a:p>
        </p:txBody>
      </p:sp>
      <p:sp>
        <p:nvSpPr>
          <p:cNvPr name="TextBox 7" id="7"/>
          <p:cNvSpPr txBox="true"/>
          <p:nvPr/>
        </p:nvSpPr>
        <p:spPr>
          <a:xfrm rot="0">
            <a:off x="1028700" y="4107180"/>
            <a:ext cx="9794529" cy="1036320"/>
          </a:xfrm>
          <a:prstGeom prst="rect">
            <a:avLst/>
          </a:prstGeom>
        </p:spPr>
        <p:txBody>
          <a:bodyPr anchor="t" rtlCol="false" tIns="0" lIns="0" bIns="0" rIns="0">
            <a:spAutoFit/>
          </a:bodyPr>
          <a:lstStyle/>
          <a:p>
            <a:pPr algn="just">
              <a:lnSpc>
                <a:spcPts val="7980"/>
              </a:lnSpc>
              <a:spcBef>
                <a:spcPct val="0"/>
              </a:spcBef>
            </a:pPr>
            <a:r>
              <a:rPr lang="en-US" b="true" sz="5700">
                <a:solidFill>
                  <a:srgbClr val="000000"/>
                </a:solidFill>
                <a:latin typeface="Poppins Bold"/>
                <a:ea typeface="Poppins Bold"/>
                <a:cs typeface="Poppins Bold"/>
                <a:sym typeface="Poppins Bold"/>
              </a:rPr>
              <a:t>PERFORMANCE PR</a:t>
            </a:r>
            <a:r>
              <a:rPr lang="en-US" b="true" sz="5700">
                <a:solidFill>
                  <a:srgbClr val="000000"/>
                </a:solidFill>
                <a:latin typeface="Poppins Bold"/>
                <a:ea typeface="Poppins Bold"/>
                <a:cs typeface="Poppins Bold"/>
                <a:sym typeface="Poppins Bold"/>
              </a:rPr>
              <a:t>EDICTOR</a:t>
            </a:r>
          </a:p>
        </p:txBody>
      </p:sp>
      <p:sp>
        <p:nvSpPr>
          <p:cNvPr name="TextBox 8" id="8"/>
          <p:cNvSpPr txBox="true"/>
          <p:nvPr/>
        </p:nvSpPr>
        <p:spPr>
          <a:xfrm rot="0">
            <a:off x="1028700" y="5548271"/>
            <a:ext cx="8257486" cy="2162175"/>
          </a:xfrm>
          <a:prstGeom prst="rect">
            <a:avLst/>
          </a:prstGeom>
        </p:spPr>
        <p:txBody>
          <a:bodyPr anchor="t" rtlCol="false" tIns="0" lIns="0" bIns="0" rIns="0">
            <a:spAutoFit/>
          </a:bodyPr>
          <a:lstStyle/>
          <a:p>
            <a:pPr algn="just">
              <a:lnSpc>
                <a:spcPts val="2879"/>
              </a:lnSpc>
              <a:spcBef>
                <a:spcPct val="0"/>
              </a:spcBef>
            </a:pPr>
            <a:r>
              <a:rPr lang="en-US" b="true" sz="2400">
                <a:solidFill>
                  <a:srgbClr val="000000"/>
                </a:solidFill>
                <a:latin typeface="Nunito Bold"/>
                <a:ea typeface="Nunito Bold"/>
                <a:cs typeface="Nunito Bold"/>
                <a:sym typeface="Nunito Bold"/>
              </a:rPr>
              <a:t>T</a:t>
            </a:r>
            <a:r>
              <a:rPr lang="en-US" b="true" sz="2400">
                <a:solidFill>
                  <a:srgbClr val="000000"/>
                </a:solidFill>
                <a:latin typeface="Nunito Bold"/>
                <a:ea typeface="Nunito Bold"/>
                <a:cs typeface="Nunito Bold"/>
                <a:sym typeface="Nunito Bold"/>
              </a:rPr>
              <a:t>eam Members</a:t>
            </a:r>
          </a:p>
          <a:p>
            <a:pPr algn="just">
              <a:lnSpc>
                <a:spcPts val="2879"/>
              </a:lnSpc>
              <a:spcBef>
                <a:spcPct val="0"/>
              </a:spcBef>
            </a:pPr>
          </a:p>
          <a:p>
            <a:pPr algn="just">
              <a:lnSpc>
                <a:spcPts val="2879"/>
              </a:lnSpc>
              <a:spcBef>
                <a:spcPct val="0"/>
              </a:spcBef>
            </a:pPr>
            <a:r>
              <a:rPr lang="en-US" sz="2400">
                <a:solidFill>
                  <a:srgbClr val="000000"/>
                </a:solidFill>
                <a:latin typeface="Nunito"/>
                <a:ea typeface="Nunito"/>
                <a:cs typeface="Nunito"/>
                <a:sym typeface="Nunito"/>
              </a:rPr>
              <a:t>Dilay Tarhan (63750626)</a:t>
            </a:r>
          </a:p>
          <a:p>
            <a:pPr algn="just">
              <a:lnSpc>
                <a:spcPts val="2879"/>
              </a:lnSpc>
              <a:spcBef>
                <a:spcPct val="0"/>
              </a:spcBef>
            </a:pPr>
            <a:r>
              <a:rPr lang="en-US" sz="2400">
                <a:solidFill>
                  <a:srgbClr val="000000"/>
                </a:solidFill>
                <a:latin typeface="Nunito"/>
                <a:ea typeface="Nunito"/>
                <a:cs typeface="Nunito"/>
                <a:sym typeface="Nunito"/>
              </a:rPr>
              <a:t>Azra Özdaş (47786847)</a:t>
            </a:r>
          </a:p>
          <a:p>
            <a:pPr algn="just">
              <a:lnSpc>
                <a:spcPts val="2879"/>
              </a:lnSpc>
              <a:spcBef>
                <a:spcPct val="0"/>
              </a:spcBef>
            </a:pPr>
            <a:r>
              <a:rPr lang="en-US" sz="2400">
                <a:solidFill>
                  <a:srgbClr val="000000"/>
                </a:solidFill>
                <a:latin typeface="Nunito"/>
                <a:ea typeface="Nunito"/>
                <a:cs typeface="Nunito"/>
                <a:sym typeface="Nunito"/>
              </a:rPr>
              <a:t>Eylül Özekinci (42088852)</a:t>
            </a:r>
          </a:p>
          <a:p>
            <a:pPr algn="just">
              <a:lnSpc>
                <a:spcPts val="2879"/>
              </a:lnSpc>
              <a:spcBef>
                <a:spcPct val="0"/>
              </a:spcBef>
            </a:pPr>
            <a:r>
              <a:rPr lang="en-US" sz="2400">
                <a:solidFill>
                  <a:srgbClr val="000000"/>
                </a:solidFill>
                <a:latin typeface="Nunito"/>
                <a:ea typeface="Nunito"/>
                <a:cs typeface="Nunito"/>
                <a:sym typeface="Nunito"/>
              </a:rPr>
              <a:t>Müslüm Selim Akşahin (28841832)</a:t>
            </a:r>
          </a:p>
        </p:txBody>
      </p:sp>
      <p:sp>
        <p:nvSpPr>
          <p:cNvPr name="Freeform 9" id="9"/>
          <p:cNvSpPr/>
          <p:nvPr/>
        </p:nvSpPr>
        <p:spPr>
          <a:xfrm flipH="false" flipV="false" rot="0">
            <a:off x="10648796" y="-40603"/>
            <a:ext cx="7639204" cy="10835750"/>
          </a:xfrm>
          <a:custGeom>
            <a:avLst/>
            <a:gdLst/>
            <a:ahLst/>
            <a:cxnLst/>
            <a:rect r="r" b="b" t="t" l="l"/>
            <a:pathLst>
              <a:path h="10835750" w="7639204">
                <a:moveTo>
                  <a:pt x="0" y="0"/>
                </a:moveTo>
                <a:lnTo>
                  <a:pt x="7639204" y="0"/>
                </a:lnTo>
                <a:lnTo>
                  <a:pt x="7639204" y="10835749"/>
                </a:lnTo>
                <a:lnTo>
                  <a:pt x="0" y="1083574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3248096" y="424815"/>
            <a:ext cx="11791809" cy="1036320"/>
          </a:xfrm>
          <a:prstGeom prst="rect">
            <a:avLst/>
          </a:prstGeom>
        </p:spPr>
        <p:txBody>
          <a:bodyPr anchor="t" rtlCol="false" tIns="0" lIns="0" bIns="0" rIns="0">
            <a:spAutoFit/>
          </a:bodyPr>
          <a:lstStyle/>
          <a:p>
            <a:pPr algn="just">
              <a:lnSpc>
                <a:spcPts val="7980"/>
              </a:lnSpc>
              <a:spcBef>
                <a:spcPct val="0"/>
              </a:spcBef>
            </a:pPr>
            <a:r>
              <a:rPr lang="en-US" b="true" sz="5700">
                <a:solidFill>
                  <a:srgbClr val="000000"/>
                </a:solidFill>
                <a:latin typeface="Poppins Bold"/>
                <a:ea typeface="Poppins Bold"/>
                <a:cs typeface="Poppins Bold"/>
                <a:sym typeface="Poppins Bold"/>
              </a:rPr>
              <a:t>TEAM STORY &amp; RESPONSIBILITIES</a:t>
            </a:r>
          </a:p>
        </p:txBody>
      </p:sp>
      <p:sp>
        <p:nvSpPr>
          <p:cNvPr name="Freeform 4" id="4"/>
          <p:cNvSpPr/>
          <p:nvPr/>
        </p:nvSpPr>
        <p:spPr>
          <a:xfrm flipH="false" flipV="false" rot="-10800000">
            <a:off x="14696558" y="-312375"/>
            <a:ext cx="3861908" cy="3297104"/>
          </a:xfrm>
          <a:custGeom>
            <a:avLst/>
            <a:gdLst/>
            <a:ahLst/>
            <a:cxnLst/>
            <a:rect r="r" b="b" t="t" l="l"/>
            <a:pathLst>
              <a:path h="3297104" w="3861908">
                <a:moveTo>
                  <a:pt x="0" y="0"/>
                </a:moveTo>
                <a:lnTo>
                  <a:pt x="3861908" y="0"/>
                </a:lnTo>
                <a:lnTo>
                  <a:pt x="3861908" y="3297104"/>
                </a:lnTo>
                <a:lnTo>
                  <a:pt x="0" y="32971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0">
            <a:off x="15854361" y="8891588"/>
            <a:ext cx="3083785" cy="2790825"/>
          </a:xfrm>
          <a:custGeom>
            <a:avLst/>
            <a:gdLst/>
            <a:ahLst/>
            <a:cxnLst/>
            <a:rect r="r" b="b" t="t" l="l"/>
            <a:pathLst>
              <a:path h="2790825" w="3083785">
                <a:moveTo>
                  <a:pt x="3083785" y="0"/>
                </a:moveTo>
                <a:lnTo>
                  <a:pt x="0" y="0"/>
                </a:lnTo>
                <a:lnTo>
                  <a:pt x="0" y="2790825"/>
                </a:lnTo>
                <a:lnTo>
                  <a:pt x="3083785" y="2790825"/>
                </a:lnTo>
                <a:lnTo>
                  <a:pt x="3083785"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873814" y="-1454648"/>
            <a:ext cx="3083785" cy="2790825"/>
          </a:xfrm>
          <a:custGeom>
            <a:avLst/>
            <a:gdLst/>
            <a:ahLst/>
            <a:cxnLst/>
            <a:rect r="r" b="b" t="t" l="l"/>
            <a:pathLst>
              <a:path h="2790825" w="3083785">
                <a:moveTo>
                  <a:pt x="0" y="0"/>
                </a:moveTo>
                <a:lnTo>
                  <a:pt x="3083785" y="0"/>
                </a:lnTo>
                <a:lnTo>
                  <a:pt x="3083785" y="2790825"/>
                </a:lnTo>
                <a:lnTo>
                  <a:pt x="0" y="279082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668078" y="2470271"/>
            <a:ext cx="7301563" cy="5795874"/>
          </a:xfrm>
          <a:prstGeom prst="rect">
            <a:avLst/>
          </a:prstGeom>
        </p:spPr>
        <p:txBody>
          <a:bodyPr anchor="t" rtlCol="false" tIns="0" lIns="0" bIns="0" rIns="0">
            <a:spAutoFit/>
          </a:bodyPr>
          <a:lstStyle/>
          <a:p>
            <a:pPr algn="just">
              <a:lnSpc>
                <a:spcPts val="3102"/>
              </a:lnSpc>
            </a:pPr>
            <a:r>
              <a:rPr lang="en-US" sz="2216">
                <a:solidFill>
                  <a:srgbClr val="000000"/>
                </a:solidFill>
                <a:latin typeface="Nunito"/>
                <a:ea typeface="Nunito"/>
                <a:cs typeface="Nunito"/>
                <a:sym typeface="Nunito"/>
              </a:rPr>
              <a:t>How We Became a Team</a:t>
            </a:r>
          </a:p>
          <a:p>
            <a:pPr algn="just">
              <a:lnSpc>
                <a:spcPts val="3102"/>
              </a:lnSpc>
            </a:pPr>
          </a:p>
          <a:p>
            <a:pPr algn="just" marL="478434" indent="-239217" lvl="1">
              <a:lnSpc>
                <a:spcPts val="3102"/>
              </a:lnSpc>
              <a:buFont typeface="Arial"/>
              <a:buChar char="•"/>
            </a:pPr>
            <a:r>
              <a:rPr lang="en-US" sz="2216">
                <a:solidFill>
                  <a:srgbClr val="000000"/>
                </a:solidFill>
                <a:latin typeface="Nunito"/>
                <a:ea typeface="Nunito"/>
                <a:cs typeface="Nunito"/>
                <a:sym typeface="Nunito"/>
              </a:rPr>
              <a:t>We decided to form our team during the 2nd semester for our Computer Science Project.</a:t>
            </a:r>
          </a:p>
          <a:p>
            <a:pPr algn="just">
              <a:lnSpc>
                <a:spcPts val="3102"/>
              </a:lnSpc>
            </a:pPr>
          </a:p>
          <a:p>
            <a:pPr algn="just" marL="478434" indent="-239217" lvl="1">
              <a:lnSpc>
                <a:spcPts val="3102"/>
              </a:lnSpc>
              <a:buFont typeface="Arial"/>
              <a:buChar char="•"/>
            </a:pPr>
            <a:r>
              <a:rPr lang="en-US" sz="2216">
                <a:solidFill>
                  <a:srgbClr val="000000"/>
                </a:solidFill>
                <a:latin typeface="Nunito"/>
                <a:ea typeface="Nunito"/>
                <a:cs typeface="Nunito"/>
                <a:sym typeface="Nunito"/>
              </a:rPr>
              <a:t>Since then, we have worked together on multiple university projects.</a:t>
            </a:r>
          </a:p>
          <a:p>
            <a:pPr algn="just">
              <a:lnSpc>
                <a:spcPts val="3102"/>
              </a:lnSpc>
            </a:pPr>
          </a:p>
          <a:p>
            <a:pPr algn="just" marL="478434" indent="-239217" lvl="1">
              <a:lnSpc>
                <a:spcPts val="3102"/>
              </a:lnSpc>
              <a:buFont typeface="Arial"/>
              <a:buChar char="•"/>
            </a:pPr>
            <a:r>
              <a:rPr lang="en-US" sz="2216">
                <a:solidFill>
                  <a:srgbClr val="000000"/>
                </a:solidFill>
                <a:latin typeface="Nunito"/>
                <a:ea typeface="Nunito"/>
                <a:cs typeface="Nunito"/>
                <a:sym typeface="Nunito"/>
              </a:rPr>
              <a:t>Through previous collaborations, we learned each other's strengths, communication styles, and work habits.</a:t>
            </a:r>
          </a:p>
          <a:p>
            <a:pPr algn="just">
              <a:lnSpc>
                <a:spcPts val="3102"/>
              </a:lnSpc>
            </a:pPr>
          </a:p>
          <a:p>
            <a:pPr algn="just">
              <a:lnSpc>
                <a:spcPts val="3102"/>
              </a:lnSpc>
              <a:spcBef>
                <a:spcPct val="0"/>
              </a:spcBef>
            </a:pPr>
            <a:r>
              <a:rPr lang="en-US" sz="2216">
                <a:solidFill>
                  <a:srgbClr val="000000"/>
                </a:solidFill>
                <a:latin typeface="Nunito"/>
                <a:ea typeface="Nunito"/>
                <a:cs typeface="Nunito"/>
                <a:sym typeface="Nunito"/>
              </a:rPr>
              <a:t>This experience helped us divide responsibilities efficiently and work as a coordinated team throughout the project.</a:t>
            </a:r>
          </a:p>
        </p:txBody>
      </p:sp>
      <p:sp>
        <p:nvSpPr>
          <p:cNvPr name="TextBox 8" id="8"/>
          <p:cNvSpPr txBox="true"/>
          <p:nvPr/>
        </p:nvSpPr>
        <p:spPr>
          <a:xfrm rot="0">
            <a:off x="9579277" y="2628976"/>
            <a:ext cx="8460457" cy="5047146"/>
          </a:xfrm>
          <a:prstGeom prst="rect">
            <a:avLst/>
          </a:prstGeom>
        </p:spPr>
        <p:txBody>
          <a:bodyPr anchor="t" rtlCol="false" tIns="0" lIns="0" bIns="0" rIns="0">
            <a:spAutoFit/>
          </a:bodyPr>
          <a:lstStyle/>
          <a:p>
            <a:pPr algn="just" marL="562060" indent="-281030" lvl="1">
              <a:lnSpc>
                <a:spcPts val="3644"/>
              </a:lnSpc>
              <a:buFont typeface="Arial"/>
              <a:buChar char="•"/>
            </a:pPr>
            <a:r>
              <a:rPr lang="en-US" sz="2603">
                <a:solidFill>
                  <a:srgbClr val="000000"/>
                </a:solidFill>
                <a:latin typeface="Nunito"/>
                <a:ea typeface="Nunito"/>
                <a:cs typeface="Nunito"/>
                <a:sym typeface="Nunito"/>
              </a:rPr>
              <a:t>Azra Özdaş – F</a:t>
            </a:r>
            <a:r>
              <a:rPr lang="en-US" sz="2603">
                <a:solidFill>
                  <a:srgbClr val="000000"/>
                </a:solidFill>
                <a:latin typeface="Nunito"/>
                <a:ea typeface="Nunito"/>
                <a:cs typeface="Nunito"/>
                <a:sym typeface="Nunito"/>
              </a:rPr>
              <a:t>rontend Development,       Streamlit Dashboard, User Interface, Authentication System</a:t>
            </a:r>
          </a:p>
          <a:p>
            <a:pPr algn="just">
              <a:lnSpc>
                <a:spcPts val="3644"/>
              </a:lnSpc>
            </a:pPr>
          </a:p>
          <a:p>
            <a:pPr algn="just" marL="562060" indent="-281030" lvl="1">
              <a:lnSpc>
                <a:spcPts val="3644"/>
              </a:lnSpc>
              <a:buFont typeface="Arial"/>
              <a:buChar char="•"/>
            </a:pPr>
            <a:r>
              <a:rPr lang="en-US" sz="2603">
                <a:solidFill>
                  <a:srgbClr val="000000"/>
                </a:solidFill>
                <a:latin typeface="Nunito"/>
                <a:ea typeface="Nunito"/>
                <a:cs typeface="Nunito"/>
                <a:sym typeface="Nunito"/>
              </a:rPr>
              <a:t>Eylül Özekinci – Machine Learning Model, Prediction Logic, Model Evaluation</a:t>
            </a:r>
          </a:p>
          <a:p>
            <a:pPr algn="just">
              <a:lnSpc>
                <a:spcPts val="3644"/>
              </a:lnSpc>
            </a:pPr>
          </a:p>
          <a:p>
            <a:pPr algn="just" marL="562060" indent="-281030" lvl="1">
              <a:lnSpc>
                <a:spcPts val="3644"/>
              </a:lnSpc>
              <a:buFont typeface="Arial"/>
              <a:buChar char="•"/>
            </a:pPr>
            <a:r>
              <a:rPr lang="en-US" sz="2603">
                <a:solidFill>
                  <a:srgbClr val="000000"/>
                </a:solidFill>
                <a:latin typeface="Nunito"/>
                <a:ea typeface="Nunito"/>
                <a:cs typeface="Nunito"/>
                <a:sym typeface="Nunito"/>
              </a:rPr>
              <a:t>Müslüm Selim Akşahin – Dataset Generation, Data Preprocessing, Backend Development</a:t>
            </a:r>
          </a:p>
          <a:p>
            <a:pPr algn="just">
              <a:lnSpc>
                <a:spcPts val="3644"/>
              </a:lnSpc>
            </a:pPr>
          </a:p>
          <a:p>
            <a:pPr algn="just" marL="562060" indent="-281030" lvl="1">
              <a:lnSpc>
                <a:spcPts val="3644"/>
              </a:lnSpc>
              <a:spcBef>
                <a:spcPct val="0"/>
              </a:spcBef>
              <a:buFont typeface="Arial"/>
              <a:buChar char="•"/>
            </a:pPr>
            <a:r>
              <a:rPr lang="en-US" sz="2603">
                <a:solidFill>
                  <a:srgbClr val="000000"/>
                </a:solidFill>
                <a:latin typeface="Nunito"/>
                <a:ea typeface="Nunito"/>
                <a:cs typeface="Nunito"/>
                <a:sym typeface="Nunito"/>
              </a:rPr>
              <a:t>Dilay Tarhan – Testing, Documentation, Reports, Daily Logs</a:t>
            </a:r>
          </a:p>
        </p:txBody>
      </p:sp>
      <p:sp>
        <p:nvSpPr>
          <p:cNvPr name="Freeform 9" id="9"/>
          <p:cNvSpPr/>
          <p:nvPr/>
        </p:nvSpPr>
        <p:spPr>
          <a:xfrm flipH="false" flipV="false" rot="0">
            <a:off x="-246559" y="7243035"/>
            <a:ext cx="3861908" cy="3297104"/>
          </a:xfrm>
          <a:custGeom>
            <a:avLst/>
            <a:gdLst/>
            <a:ahLst/>
            <a:cxnLst/>
            <a:rect r="r" b="b" t="t" l="l"/>
            <a:pathLst>
              <a:path h="3297104" w="3861908">
                <a:moveTo>
                  <a:pt x="0" y="0"/>
                </a:moveTo>
                <a:lnTo>
                  <a:pt x="3861908" y="0"/>
                </a:lnTo>
                <a:lnTo>
                  <a:pt x="3861908" y="3297105"/>
                </a:lnTo>
                <a:lnTo>
                  <a:pt x="0" y="329710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6468782" y="5719553"/>
            <a:ext cx="4980561" cy="7706865"/>
          </a:xfrm>
          <a:custGeom>
            <a:avLst/>
            <a:gdLst/>
            <a:ahLst/>
            <a:cxnLst/>
            <a:rect r="r" b="b" t="t" l="l"/>
            <a:pathLst>
              <a:path h="7706865" w="4980561">
                <a:moveTo>
                  <a:pt x="0" y="0"/>
                </a:moveTo>
                <a:lnTo>
                  <a:pt x="4980561" y="0"/>
                </a:lnTo>
                <a:lnTo>
                  <a:pt x="4980561" y="7706865"/>
                </a:lnTo>
                <a:lnTo>
                  <a:pt x="0" y="770686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612450" y="-2375"/>
            <a:ext cx="13582287" cy="1454149"/>
          </a:xfrm>
          <a:prstGeom prst="rect">
            <a:avLst/>
          </a:prstGeom>
        </p:spPr>
        <p:txBody>
          <a:bodyPr anchor="t" rtlCol="false" tIns="0" lIns="0" bIns="0" rIns="0">
            <a:spAutoFit/>
          </a:bodyPr>
          <a:lstStyle/>
          <a:p>
            <a:pPr algn="ctr">
              <a:lnSpc>
                <a:spcPts val="11200"/>
              </a:lnSpc>
              <a:spcBef>
                <a:spcPct val="0"/>
              </a:spcBef>
            </a:pPr>
            <a:r>
              <a:rPr lang="en-US" b="true" sz="8000">
                <a:solidFill>
                  <a:srgbClr val="000000"/>
                </a:solidFill>
                <a:latin typeface="Poppins Bold"/>
                <a:ea typeface="Poppins Bold"/>
                <a:cs typeface="Poppins Bold"/>
                <a:sym typeface="Poppins Bold"/>
              </a:rPr>
              <a:t>GANTT CHART &amp;</a:t>
            </a:r>
            <a:r>
              <a:rPr lang="en-US" b="true" sz="8000">
                <a:solidFill>
                  <a:srgbClr val="000000"/>
                </a:solidFill>
                <a:latin typeface="Poppins Bold"/>
                <a:ea typeface="Poppins Bold"/>
                <a:cs typeface="Poppins Bold"/>
                <a:sym typeface="Poppins Bold"/>
              </a:rPr>
              <a:t> TIMELINE</a:t>
            </a:r>
          </a:p>
        </p:txBody>
      </p:sp>
      <p:sp>
        <p:nvSpPr>
          <p:cNvPr name="Freeform 3" id="3"/>
          <p:cNvSpPr/>
          <p:nvPr/>
        </p:nvSpPr>
        <p:spPr>
          <a:xfrm flipH="true" flipV="false" rot="-10800000">
            <a:off x="-683011" y="-281858"/>
            <a:ext cx="4819678" cy="4114800"/>
          </a:xfrm>
          <a:custGeom>
            <a:avLst/>
            <a:gdLst/>
            <a:ahLst/>
            <a:cxnLst/>
            <a:rect r="r" b="b" t="t" l="l"/>
            <a:pathLst>
              <a:path h="4114800" w="4819678">
                <a:moveTo>
                  <a:pt x="4819678" y="0"/>
                </a:moveTo>
                <a:lnTo>
                  <a:pt x="0" y="0"/>
                </a:lnTo>
                <a:lnTo>
                  <a:pt x="0" y="4114800"/>
                </a:lnTo>
                <a:lnTo>
                  <a:pt x="4819678" y="4114800"/>
                </a:lnTo>
                <a:lnTo>
                  <a:pt x="4819678"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5789675" y="-884479"/>
            <a:ext cx="2939250" cy="2660021"/>
          </a:xfrm>
          <a:custGeom>
            <a:avLst/>
            <a:gdLst/>
            <a:ahLst/>
            <a:cxnLst/>
            <a:rect r="r" b="b" t="t" l="l"/>
            <a:pathLst>
              <a:path h="2660021" w="2939250">
                <a:moveTo>
                  <a:pt x="2939250" y="0"/>
                </a:moveTo>
                <a:lnTo>
                  <a:pt x="0" y="0"/>
                </a:lnTo>
                <a:lnTo>
                  <a:pt x="0" y="2660021"/>
                </a:lnTo>
                <a:lnTo>
                  <a:pt x="2939250" y="2660021"/>
                </a:lnTo>
                <a:lnTo>
                  <a:pt x="293925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true" rot="0">
            <a:off x="-683011" y="8310787"/>
            <a:ext cx="2939250" cy="2660021"/>
          </a:xfrm>
          <a:custGeom>
            <a:avLst/>
            <a:gdLst/>
            <a:ahLst/>
            <a:cxnLst/>
            <a:rect r="r" b="b" t="t" l="l"/>
            <a:pathLst>
              <a:path h="2660021" w="2939250">
                <a:moveTo>
                  <a:pt x="0" y="2660022"/>
                </a:moveTo>
                <a:lnTo>
                  <a:pt x="2939250" y="2660022"/>
                </a:lnTo>
                <a:lnTo>
                  <a:pt x="2939250" y="0"/>
                </a:lnTo>
                <a:lnTo>
                  <a:pt x="0" y="0"/>
                </a:lnTo>
                <a:lnTo>
                  <a:pt x="0" y="266002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028700" y="1636712"/>
            <a:ext cx="16749787" cy="8500517"/>
          </a:xfrm>
          <a:custGeom>
            <a:avLst/>
            <a:gdLst/>
            <a:ahLst/>
            <a:cxnLst/>
            <a:rect r="r" b="b" t="t" l="l"/>
            <a:pathLst>
              <a:path h="8500517" w="16749787">
                <a:moveTo>
                  <a:pt x="0" y="0"/>
                </a:moveTo>
                <a:lnTo>
                  <a:pt x="16749787" y="0"/>
                </a:lnTo>
                <a:lnTo>
                  <a:pt x="16749787" y="8500517"/>
                </a:lnTo>
                <a:lnTo>
                  <a:pt x="0" y="8500517"/>
                </a:lnTo>
                <a:lnTo>
                  <a:pt x="0" y="0"/>
                </a:lnTo>
                <a:close/>
              </a:path>
            </a:pathLst>
          </a:custGeom>
          <a:blipFill>
            <a:blip r:embed="rId6"/>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8534745" y="1455954"/>
            <a:ext cx="8092767" cy="2045970"/>
          </a:xfrm>
          <a:prstGeom prst="rect">
            <a:avLst/>
          </a:prstGeom>
        </p:spPr>
        <p:txBody>
          <a:bodyPr anchor="t" rtlCol="false" tIns="0" lIns="0" bIns="0" rIns="0">
            <a:spAutoFit/>
          </a:bodyPr>
          <a:lstStyle/>
          <a:p>
            <a:pPr algn="just">
              <a:lnSpc>
                <a:spcPts val="7980"/>
              </a:lnSpc>
              <a:spcBef>
                <a:spcPct val="0"/>
              </a:spcBef>
            </a:pPr>
            <a:r>
              <a:rPr lang="en-US" b="true" sz="5700">
                <a:solidFill>
                  <a:srgbClr val="000000"/>
                </a:solidFill>
                <a:latin typeface="Poppins Bold"/>
                <a:ea typeface="Poppins Bold"/>
                <a:cs typeface="Poppins Bold"/>
                <a:sym typeface="Poppins Bold"/>
              </a:rPr>
              <a:t>THE</a:t>
            </a:r>
            <a:r>
              <a:rPr lang="en-US" b="true" sz="5700">
                <a:solidFill>
                  <a:srgbClr val="000000"/>
                </a:solidFill>
                <a:latin typeface="Poppins Bold"/>
                <a:ea typeface="Poppins Bold"/>
                <a:cs typeface="Poppins Bold"/>
                <a:sym typeface="Poppins Bold"/>
              </a:rPr>
              <a:t> PROBLEM </a:t>
            </a:r>
          </a:p>
          <a:p>
            <a:pPr algn="just">
              <a:lnSpc>
                <a:spcPts val="7980"/>
              </a:lnSpc>
              <a:spcBef>
                <a:spcPct val="0"/>
              </a:spcBef>
            </a:pPr>
            <a:r>
              <a:rPr lang="en-US" b="true" sz="5700">
                <a:solidFill>
                  <a:srgbClr val="000000"/>
                </a:solidFill>
                <a:latin typeface="Poppins Bold"/>
                <a:ea typeface="Poppins Bold"/>
                <a:cs typeface="Poppins Bold"/>
                <a:sym typeface="Poppins Bold"/>
              </a:rPr>
              <a:t>WE WANTED TO SOLVE</a:t>
            </a:r>
          </a:p>
        </p:txBody>
      </p:sp>
      <p:sp>
        <p:nvSpPr>
          <p:cNvPr name="Freeform 4" id="4"/>
          <p:cNvSpPr/>
          <p:nvPr/>
        </p:nvSpPr>
        <p:spPr>
          <a:xfrm flipH="false" flipV="false" rot="-10800000">
            <a:off x="14696558" y="-312375"/>
            <a:ext cx="3861908" cy="3297104"/>
          </a:xfrm>
          <a:custGeom>
            <a:avLst/>
            <a:gdLst/>
            <a:ahLst/>
            <a:cxnLst/>
            <a:rect r="r" b="b" t="t" l="l"/>
            <a:pathLst>
              <a:path h="3297104" w="3861908">
                <a:moveTo>
                  <a:pt x="0" y="0"/>
                </a:moveTo>
                <a:lnTo>
                  <a:pt x="3861908" y="0"/>
                </a:lnTo>
                <a:lnTo>
                  <a:pt x="3861908" y="3297104"/>
                </a:lnTo>
                <a:lnTo>
                  <a:pt x="0" y="32971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0" y="1495276"/>
            <a:ext cx="6985757" cy="8791724"/>
          </a:xfrm>
          <a:custGeom>
            <a:avLst/>
            <a:gdLst/>
            <a:ahLst/>
            <a:cxnLst/>
            <a:rect r="r" b="b" t="t" l="l"/>
            <a:pathLst>
              <a:path h="8791724" w="6985757">
                <a:moveTo>
                  <a:pt x="0" y="0"/>
                </a:moveTo>
                <a:lnTo>
                  <a:pt x="6985757" y="0"/>
                </a:lnTo>
                <a:lnTo>
                  <a:pt x="6985757" y="8791724"/>
                </a:lnTo>
                <a:lnTo>
                  <a:pt x="0" y="879172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0">
            <a:off x="15854361" y="8891588"/>
            <a:ext cx="3083785" cy="2790825"/>
          </a:xfrm>
          <a:custGeom>
            <a:avLst/>
            <a:gdLst/>
            <a:ahLst/>
            <a:cxnLst/>
            <a:rect r="r" b="b" t="t" l="l"/>
            <a:pathLst>
              <a:path h="2790825" w="3083785">
                <a:moveTo>
                  <a:pt x="3083785" y="0"/>
                </a:moveTo>
                <a:lnTo>
                  <a:pt x="0" y="0"/>
                </a:lnTo>
                <a:lnTo>
                  <a:pt x="0" y="2790825"/>
                </a:lnTo>
                <a:lnTo>
                  <a:pt x="3083785" y="2790825"/>
                </a:lnTo>
                <a:lnTo>
                  <a:pt x="3083785"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873814" y="-1454648"/>
            <a:ext cx="3083785" cy="2790825"/>
          </a:xfrm>
          <a:custGeom>
            <a:avLst/>
            <a:gdLst/>
            <a:ahLst/>
            <a:cxnLst/>
            <a:rect r="r" b="b" t="t" l="l"/>
            <a:pathLst>
              <a:path h="2790825" w="3083785">
                <a:moveTo>
                  <a:pt x="0" y="0"/>
                </a:moveTo>
                <a:lnTo>
                  <a:pt x="3083785" y="0"/>
                </a:lnTo>
                <a:lnTo>
                  <a:pt x="3083785" y="2790825"/>
                </a:lnTo>
                <a:lnTo>
                  <a:pt x="0" y="279082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8" id="8"/>
          <p:cNvSpPr txBox="true"/>
          <p:nvPr/>
        </p:nvSpPr>
        <p:spPr>
          <a:xfrm rot="0">
            <a:off x="8534745" y="4072356"/>
            <a:ext cx="8092767" cy="5006340"/>
          </a:xfrm>
          <a:prstGeom prst="rect">
            <a:avLst/>
          </a:prstGeom>
        </p:spPr>
        <p:txBody>
          <a:bodyPr anchor="t" rtlCol="false" tIns="0" lIns="0" bIns="0" rIns="0">
            <a:spAutoFit/>
          </a:bodyPr>
          <a:lstStyle/>
          <a:p>
            <a:pPr algn="just">
              <a:lnSpc>
                <a:spcPts val="3359"/>
              </a:lnSpc>
              <a:spcBef>
                <a:spcPct val="0"/>
              </a:spcBef>
            </a:pPr>
            <a:r>
              <a:rPr lang="en-US" sz="2400">
                <a:solidFill>
                  <a:srgbClr val="000000"/>
                </a:solidFill>
                <a:latin typeface="Nunito"/>
                <a:ea typeface="Nunito"/>
                <a:cs typeface="Nunito"/>
                <a:sym typeface="Nunito"/>
              </a:rPr>
              <a:t>Many</a:t>
            </a:r>
            <a:r>
              <a:rPr lang="en-US" sz="2400">
                <a:solidFill>
                  <a:srgbClr val="000000"/>
                </a:solidFill>
                <a:latin typeface="Nunito"/>
                <a:ea typeface="Nunito"/>
                <a:cs typeface="Nunito"/>
                <a:sym typeface="Nunito"/>
              </a:rPr>
              <a:t> students struggle with academic pressure, overloaded schedules, and poor study planning. In many cases, students realize academic problems too late, after deadlines accumulate and performance begins to decrease.</a:t>
            </a:r>
          </a:p>
          <a:p>
            <a:pPr algn="just">
              <a:lnSpc>
                <a:spcPts val="3359"/>
              </a:lnSpc>
              <a:spcBef>
                <a:spcPct val="0"/>
              </a:spcBef>
            </a:pPr>
          </a:p>
          <a:p>
            <a:pPr algn="just">
              <a:lnSpc>
                <a:spcPts val="3359"/>
              </a:lnSpc>
              <a:spcBef>
                <a:spcPct val="0"/>
              </a:spcBef>
            </a:pPr>
            <a:r>
              <a:rPr lang="en-US" sz="2400">
                <a:solidFill>
                  <a:srgbClr val="000000"/>
                </a:solidFill>
                <a:latin typeface="Nunito"/>
                <a:ea typeface="Nunito"/>
                <a:cs typeface="Nunito"/>
                <a:sym typeface="Nunito"/>
              </a:rPr>
              <a:t>As university students ourselves, we recognized this problem firsthand and wanted to explore how artificial intelligence could help students spot academic risk earlier. Our team turned that idea into Studor (AI Smart Study Risk &amp; Performance Predictor): a prototype that analyzes study habits, attendance, deadlines, and grades to flag Low / Medium / High risk before problems escalate.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22391" y="198073"/>
            <a:ext cx="9267944" cy="2873374"/>
          </a:xfrm>
          <a:prstGeom prst="rect">
            <a:avLst/>
          </a:prstGeom>
        </p:spPr>
        <p:txBody>
          <a:bodyPr anchor="t" rtlCol="false" tIns="0" lIns="0" bIns="0" rIns="0">
            <a:spAutoFit/>
          </a:bodyPr>
          <a:lstStyle/>
          <a:p>
            <a:pPr algn="ctr">
              <a:lnSpc>
                <a:spcPts val="11200"/>
              </a:lnSpc>
              <a:spcBef>
                <a:spcPct val="0"/>
              </a:spcBef>
            </a:pPr>
            <a:r>
              <a:rPr lang="en-US" b="true" sz="8000">
                <a:solidFill>
                  <a:srgbClr val="000000"/>
                </a:solidFill>
                <a:latin typeface="Poppins Bold"/>
                <a:ea typeface="Poppins Bold"/>
                <a:cs typeface="Poppins Bold"/>
                <a:sym typeface="Poppins Bold"/>
              </a:rPr>
              <a:t>PROJECT</a:t>
            </a:r>
            <a:r>
              <a:rPr lang="en-US" b="true" sz="8000">
                <a:solidFill>
                  <a:srgbClr val="000000"/>
                </a:solidFill>
                <a:latin typeface="Poppins Bold"/>
                <a:ea typeface="Poppins Bold"/>
                <a:cs typeface="Poppins Bold"/>
                <a:sym typeface="Poppins Bold"/>
              </a:rPr>
              <a:t> OBJECTIVE</a:t>
            </a:r>
          </a:p>
        </p:txBody>
      </p:sp>
      <p:sp>
        <p:nvSpPr>
          <p:cNvPr name="Freeform 3" id="3"/>
          <p:cNvSpPr/>
          <p:nvPr/>
        </p:nvSpPr>
        <p:spPr>
          <a:xfrm flipH="true" flipV="false" rot="-10800000">
            <a:off x="-683011" y="-281858"/>
            <a:ext cx="4819678" cy="4114800"/>
          </a:xfrm>
          <a:custGeom>
            <a:avLst/>
            <a:gdLst/>
            <a:ahLst/>
            <a:cxnLst/>
            <a:rect r="r" b="b" t="t" l="l"/>
            <a:pathLst>
              <a:path h="4114800" w="4819678">
                <a:moveTo>
                  <a:pt x="4819678" y="0"/>
                </a:moveTo>
                <a:lnTo>
                  <a:pt x="0" y="0"/>
                </a:lnTo>
                <a:lnTo>
                  <a:pt x="0" y="4114800"/>
                </a:lnTo>
                <a:lnTo>
                  <a:pt x="4819678" y="4114800"/>
                </a:lnTo>
                <a:lnTo>
                  <a:pt x="4819678"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5789675" y="-884479"/>
            <a:ext cx="2939250" cy="2660021"/>
          </a:xfrm>
          <a:custGeom>
            <a:avLst/>
            <a:gdLst/>
            <a:ahLst/>
            <a:cxnLst/>
            <a:rect r="r" b="b" t="t" l="l"/>
            <a:pathLst>
              <a:path h="2660021" w="2939250">
                <a:moveTo>
                  <a:pt x="2939250" y="0"/>
                </a:moveTo>
                <a:lnTo>
                  <a:pt x="0" y="0"/>
                </a:lnTo>
                <a:lnTo>
                  <a:pt x="0" y="2660021"/>
                </a:lnTo>
                <a:lnTo>
                  <a:pt x="2939250" y="2660021"/>
                </a:lnTo>
                <a:lnTo>
                  <a:pt x="293925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true" rot="0">
            <a:off x="-1682910" y="9258300"/>
            <a:ext cx="2939250" cy="2660021"/>
          </a:xfrm>
          <a:custGeom>
            <a:avLst/>
            <a:gdLst/>
            <a:ahLst/>
            <a:cxnLst/>
            <a:rect r="r" b="b" t="t" l="l"/>
            <a:pathLst>
              <a:path h="2660021" w="2939250">
                <a:moveTo>
                  <a:pt x="0" y="2660021"/>
                </a:moveTo>
                <a:lnTo>
                  <a:pt x="2939250" y="2660021"/>
                </a:lnTo>
                <a:lnTo>
                  <a:pt x="2939250" y="0"/>
                </a:lnTo>
                <a:lnTo>
                  <a:pt x="0" y="0"/>
                </a:lnTo>
                <a:lnTo>
                  <a:pt x="0" y="2660021"/>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0766896" y="1484037"/>
            <a:ext cx="8135731" cy="9258300"/>
          </a:xfrm>
          <a:custGeom>
            <a:avLst/>
            <a:gdLst/>
            <a:ahLst/>
            <a:cxnLst/>
            <a:rect r="r" b="b" t="t" l="l"/>
            <a:pathLst>
              <a:path h="9258300" w="8135731">
                <a:moveTo>
                  <a:pt x="0" y="0"/>
                </a:moveTo>
                <a:lnTo>
                  <a:pt x="8135731" y="0"/>
                </a:lnTo>
                <a:lnTo>
                  <a:pt x="8135731" y="9258300"/>
                </a:lnTo>
                <a:lnTo>
                  <a:pt x="0" y="92583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422391" y="3491686"/>
            <a:ext cx="10344505" cy="5442764"/>
          </a:xfrm>
          <a:prstGeom prst="rect">
            <a:avLst/>
          </a:prstGeom>
        </p:spPr>
        <p:txBody>
          <a:bodyPr anchor="t" rtlCol="false" tIns="0" lIns="0" bIns="0" rIns="0">
            <a:spAutoFit/>
          </a:bodyPr>
          <a:lstStyle/>
          <a:p>
            <a:pPr algn="just">
              <a:lnSpc>
                <a:spcPts val="3070"/>
              </a:lnSpc>
              <a:spcBef>
                <a:spcPct val="0"/>
              </a:spcBef>
            </a:pPr>
            <a:r>
              <a:rPr lang="en-US" sz="2192">
                <a:solidFill>
                  <a:srgbClr val="000000"/>
                </a:solidFill>
                <a:latin typeface="Nunito"/>
                <a:ea typeface="Nunito"/>
                <a:cs typeface="Nunito"/>
                <a:sym typeface="Nunito"/>
              </a:rPr>
              <a:t>Thi</a:t>
            </a:r>
            <a:r>
              <a:rPr lang="en-US" sz="2192">
                <a:solidFill>
                  <a:srgbClr val="000000"/>
                </a:solidFill>
                <a:latin typeface="Nunito"/>
                <a:ea typeface="Nunito"/>
                <a:cs typeface="Nunito"/>
                <a:sym typeface="Nunito"/>
              </a:rPr>
              <a:t>s project develops Studor, an AI-supported academic assistant that helps students understand study performance and workload. By analyzing attendance, study hours, assignment deadlines, pass grade, assignment difficulty, and workload level, the system predicts academic risk (Low / Medium / High) and presents results through an interactive Streamlit dashboard with study recommendations and model evaluation charts.</a:t>
            </a:r>
          </a:p>
          <a:p>
            <a:pPr algn="just">
              <a:lnSpc>
                <a:spcPts val="2790"/>
              </a:lnSpc>
              <a:spcBef>
                <a:spcPct val="0"/>
              </a:spcBef>
            </a:pPr>
          </a:p>
          <a:p>
            <a:pPr algn="just">
              <a:lnSpc>
                <a:spcPts val="2790"/>
              </a:lnSpc>
              <a:spcBef>
                <a:spcPct val="0"/>
              </a:spcBef>
            </a:pPr>
            <a:r>
              <a:rPr lang="en-US" sz="1992">
                <a:solidFill>
                  <a:srgbClr val="000000"/>
                </a:solidFill>
                <a:latin typeface="Nunito"/>
                <a:ea typeface="Nunito"/>
                <a:cs typeface="Nunito"/>
                <a:sym typeface="Nunito"/>
              </a:rPr>
              <a:t>Main Features &amp; Technologies</a:t>
            </a:r>
          </a:p>
          <a:p>
            <a:pPr algn="just" marL="430282" indent="-215141" lvl="1">
              <a:lnSpc>
                <a:spcPts val="2790"/>
              </a:lnSpc>
              <a:spcBef>
                <a:spcPct val="0"/>
              </a:spcBef>
              <a:buFont typeface="Arial"/>
              <a:buChar char="•"/>
            </a:pPr>
            <a:r>
              <a:rPr lang="en-US" sz="1992">
                <a:solidFill>
                  <a:srgbClr val="000000"/>
                </a:solidFill>
                <a:latin typeface="Nunito"/>
                <a:ea typeface="Nunito"/>
                <a:cs typeface="Nunito"/>
                <a:sym typeface="Nunito"/>
              </a:rPr>
              <a:t>Academic risk prediction (Random Forest Classifier)</a:t>
            </a:r>
          </a:p>
          <a:p>
            <a:pPr algn="just" marL="430282" indent="-215141" lvl="1">
              <a:lnSpc>
                <a:spcPts val="2790"/>
              </a:lnSpc>
              <a:spcBef>
                <a:spcPct val="0"/>
              </a:spcBef>
              <a:buFont typeface="Arial"/>
              <a:buChar char="•"/>
            </a:pPr>
            <a:r>
              <a:rPr lang="en-US" sz="1992">
                <a:solidFill>
                  <a:srgbClr val="000000"/>
                </a:solidFill>
                <a:latin typeface="Nunito"/>
                <a:ea typeface="Nunito"/>
                <a:cs typeface="Nunito"/>
                <a:sym typeface="Nunito"/>
              </a:rPr>
              <a:t>Workload and study behavior analysis</a:t>
            </a:r>
          </a:p>
          <a:p>
            <a:pPr algn="just" marL="430282" indent="-215141" lvl="1">
              <a:lnSpc>
                <a:spcPts val="2790"/>
              </a:lnSpc>
              <a:spcBef>
                <a:spcPct val="0"/>
              </a:spcBef>
              <a:buFont typeface="Arial"/>
              <a:buChar char="•"/>
            </a:pPr>
            <a:r>
              <a:rPr lang="en-US" sz="1992">
                <a:solidFill>
                  <a:srgbClr val="000000"/>
                </a:solidFill>
                <a:latin typeface="Nunito"/>
                <a:ea typeface="Nunito"/>
                <a:cs typeface="Nunito"/>
                <a:sym typeface="Nunito"/>
              </a:rPr>
              <a:t>Rule-based s</a:t>
            </a:r>
            <a:r>
              <a:rPr lang="en-US" sz="1992">
                <a:solidFill>
                  <a:srgbClr val="000000"/>
                </a:solidFill>
                <a:latin typeface="Nunito"/>
                <a:ea typeface="Nunito"/>
                <a:cs typeface="Nunito"/>
                <a:sym typeface="Nunito"/>
              </a:rPr>
              <a:t>tudy recommendations &amp; weekly schedule</a:t>
            </a:r>
          </a:p>
          <a:p>
            <a:pPr algn="just" marL="430282" indent="-215141" lvl="1">
              <a:lnSpc>
                <a:spcPts val="2790"/>
              </a:lnSpc>
              <a:spcBef>
                <a:spcPct val="0"/>
              </a:spcBef>
              <a:buFont typeface="Arial"/>
              <a:buChar char="•"/>
            </a:pPr>
            <a:r>
              <a:rPr lang="en-US" sz="1992">
                <a:solidFill>
                  <a:srgbClr val="000000"/>
                </a:solidFill>
                <a:latin typeface="Nunito"/>
                <a:ea typeface="Nunito"/>
                <a:cs typeface="Nunito"/>
                <a:sym typeface="Nunito"/>
              </a:rPr>
              <a:t>Interactive dashboard with Plotly visualizations</a:t>
            </a:r>
          </a:p>
          <a:p>
            <a:pPr algn="just" marL="430282" indent="-215141" lvl="1">
              <a:lnSpc>
                <a:spcPts val="2790"/>
              </a:lnSpc>
              <a:spcBef>
                <a:spcPct val="0"/>
              </a:spcBef>
              <a:buFont typeface="Arial"/>
              <a:buChar char="•"/>
            </a:pPr>
            <a:r>
              <a:rPr lang="en-US" sz="1992">
                <a:solidFill>
                  <a:srgbClr val="000000"/>
                </a:solidFill>
                <a:latin typeface="Nunito"/>
                <a:ea typeface="Nunito"/>
                <a:cs typeface="Nunito"/>
                <a:sym typeface="Nunito"/>
              </a:rPr>
              <a:t>User authentication (Supabase PostgreSQL)</a:t>
            </a:r>
          </a:p>
          <a:p>
            <a:pPr algn="just" marL="430282" indent="-215141" lvl="1">
              <a:lnSpc>
                <a:spcPts val="2790"/>
              </a:lnSpc>
              <a:spcBef>
                <a:spcPct val="0"/>
              </a:spcBef>
              <a:buFont typeface="Arial"/>
              <a:buChar char="•"/>
            </a:pPr>
            <a:r>
              <a:rPr lang="en-US" sz="1992">
                <a:solidFill>
                  <a:srgbClr val="000000"/>
                </a:solidFill>
                <a:latin typeface="Nunito"/>
                <a:ea typeface="Nunito"/>
                <a:cs typeface="Nunito"/>
                <a:sym typeface="Nunito"/>
              </a:rPr>
              <a:t>Python · Pandas &amp; NumPy · Scikit-learn · Streamlit · Plotly · Joblib</a:t>
            </a:r>
          </a:p>
          <a:p>
            <a:pPr algn="just" marL="430282" indent="-215141" lvl="1">
              <a:lnSpc>
                <a:spcPts val="2790"/>
              </a:lnSpc>
              <a:spcBef>
                <a:spcPct val="0"/>
              </a:spcBef>
              <a:buFont typeface="Arial"/>
              <a:buChar char="•"/>
            </a:pPr>
            <a:r>
              <a:rPr lang="en-US" sz="1992">
                <a:solidFill>
                  <a:srgbClr val="000000"/>
                </a:solidFill>
                <a:latin typeface="Nunito"/>
                <a:ea typeface="Nunito"/>
                <a:cs typeface="Nunito"/>
                <a:sym typeface="Nunito"/>
              </a:rPr>
              <a:t>GitHub &amp; Microsoft Teams (version control &amp; collaboration)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352856" y="182563"/>
            <a:ext cx="13582287" cy="1454149"/>
          </a:xfrm>
          <a:prstGeom prst="rect">
            <a:avLst/>
          </a:prstGeom>
        </p:spPr>
        <p:txBody>
          <a:bodyPr anchor="t" rtlCol="false" tIns="0" lIns="0" bIns="0" rIns="0">
            <a:spAutoFit/>
          </a:bodyPr>
          <a:lstStyle/>
          <a:p>
            <a:pPr algn="ctr">
              <a:lnSpc>
                <a:spcPts val="11200"/>
              </a:lnSpc>
              <a:spcBef>
                <a:spcPct val="0"/>
              </a:spcBef>
            </a:pPr>
            <a:r>
              <a:rPr lang="en-US" b="true" sz="8000">
                <a:solidFill>
                  <a:srgbClr val="000000"/>
                </a:solidFill>
                <a:latin typeface="Poppins Bold"/>
                <a:ea typeface="Poppins Bold"/>
                <a:cs typeface="Poppins Bold"/>
                <a:sym typeface="Poppins Bold"/>
              </a:rPr>
              <a:t>SYSTEM WORKFLOW</a:t>
            </a:r>
          </a:p>
        </p:txBody>
      </p:sp>
      <p:sp>
        <p:nvSpPr>
          <p:cNvPr name="Freeform 3" id="3"/>
          <p:cNvSpPr/>
          <p:nvPr/>
        </p:nvSpPr>
        <p:spPr>
          <a:xfrm flipH="true" flipV="false" rot="-10800000">
            <a:off x="-683011" y="-281858"/>
            <a:ext cx="4819678" cy="4114800"/>
          </a:xfrm>
          <a:custGeom>
            <a:avLst/>
            <a:gdLst/>
            <a:ahLst/>
            <a:cxnLst/>
            <a:rect r="r" b="b" t="t" l="l"/>
            <a:pathLst>
              <a:path h="4114800" w="4819678">
                <a:moveTo>
                  <a:pt x="4819678" y="0"/>
                </a:moveTo>
                <a:lnTo>
                  <a:pt x="0" y="0"/>
                </a:lnTo>
                <a:lnTo>
                  <a:pt x="0" y="4114800"/>
                </a:lnTo>
                <a:lnTo>
                  <a:pt x="4819678" y="4114800"/>
                </a:lnTo>
                <a:lnTo>
                  <a:pt x="4819678"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5789675" y="-884479"/>
            <a:ext cx="2939250" cy="2660021"/>
          </a:xfrm>
          <a:custGeom>
            <a:avLst/>
            <a:gdLst/>
            <a:ahLst/>
            <a:cxnLst/>
            <a:rect r="r" b="b" t="t" l="l"/>
            <a:pathLst>
              <a:path h="2660021" w="2939250">
                <a:moveTo>
                  <a:pt x="2939250" y="0"/>
                </a:moveTo>
                <a:lnTo>
                  <a:pt x="0" y="0"/>
                </a:lnTo>
                <a:lnTo>
                  <a:pt x="0" y="2660021"/>
                </a:lnTo>
                <a:lnTo>
                  <a:pt x="2939250" y="2660021"/>
                </a:lnTo>
                <a:lnTo>
                  <a:pt x="293925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true" rot="0">
            <a:off x="-683011" y="8310787"/>
            <a:ext cx="2939250" cy="2660021"/>
          </a:xfrm>
          <a:custGeom>
            <a:avLst/>
            <a:gdLst/>
            <a:ahLst/>
            <a:cxnLst/>
            <a:rect r="r" b="b" t="t" l="l"/>
            <a:pathLst>
              <a:path h="2660021" w="2939250">
                <a:moveTo>
                  <a:pt x="0" y="2660022"/>
                </a:moveTo>
                <a:lnTo>
                  <a:pt x="2939250" y="2660022"/>
                </a:lnTo>
                <a:lnTo>
                  <a:pt x="2939250" y="0"/>
                </a:lnTo>
                <a:lnTo>
                  <a:pt x="0" y="0"/>
                </a:lnTo>
                <a:lnTo>
                  <a:pt x="0" y="266002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264226" y="1825104"/>
            <a:ext cx="17802073" cy="7543628"/>
          </a:xfrm>
          <a:custGeom>
            <a:avLst/>
            <a:gdLst/>
            <a:ahLst/>
            <a:cxnLst/>
            <a:rect r="r" b="b" t="t" l="l"/>
            <a:pathLst>
              <a:path h="7543628" w="17802073">
                <a:moveTo>
                  <a:pt x="0" y="0"/>
                </a:moveTo>
                <a:lnTo>
                  <a:pt x="17802073" y="0"/>
                </a:lnTo>
                <a:lnTo>
                  <a:pt x="17802073" y="7543629"/>
                </a:lnTo>
                <a:lnTo>
                  <a:pt x="0" y="7543629"/>
                </a:lnTo>
                <a:lnTo>
                  <a:pt x="0" y="0"/>
                </a:lnTo>
                <a:close/>
              </a:path>
            </a:pathLst>
          </a:custGeom>
          <a:blipFill>
            <a:blip r:embed="rId6"/>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10800000">
            <a:off x="14684768" y="-432528"/>
            <a:ext cx="3861908" cy="3297104"/>
          </a:xfrm>
          <a:custGeom>
            <a:avLst/>
            <a:gdLst/>
            <a:ahLst/>
            <a:cxnLst/>
            <a:rect r="r" b="b" t="t" l="l"/>
            <a:pathLst>
              <a:path h="3297104" w="3861908">
                <a:moveTo>
                  <a:pt x="0" y="0"/>
                </a:moveTo>
                <a:lnTo>
                  <a:pt x="3861908" y="0"/>
                </a:lnTo>
                <a:lnTo>
                  <a:pt x="3861908" y="3297104"/>
                </a:lnTo>
                <a:lnTo>
                  <a:pt x="0" y="32971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0">
            <a:off x="-416102" y="-432528"/>
            <a:ext cx="3861908" cy="3297104"/>
          </a:xfrm>
          <a:custGeom>
            <a:avLst/>
            <a:gdLst/>
            <a:ahLst/>
            <a:cxnLst/>
            <a:rect r="r" b="b" t="t" l="l"/>
            <a:pathLst>
              <a:path h="3297104" w="3861908">
                <a:moveTo>
                  <a:pt x="0" y="3297104"/>
                </a:moveTo>
                <a:lnTo>
                  <a:pt x="3861908" y="3297104"/>
                </a:lnTo>
                <a:lnTo>
                  <a:pt x="3861908" y="0"/>
                </a:lnTo>
                <a:lnTo>
                  <a:pt x="0" y="0"/>
                </a:lnTo>
                <a:lnTo>
                  <a:pt x="0" y="3297104"/>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7133299" y="3985285"/>
            <a:ext cx="10518556" cy="1698982"/>
            <a:chOff x="0" y="0"/>
            <a:chExt cx="2873785" cy="464181"/>
          </a:xfrm>
        </p:grpSpPr>
        <p:sp>
          <p:nvSpPr>
            <p:cNvPr name="Freeform 6" id="6"/>
            <p:cNvSpPr/>
            <p:nvPr/>
          </p:nvSpPr>
          <p:spPr>
            <a:xfrm flipH="false" flipV="false" rot="0">
              <a:off x="0" y="0"/>
              <a:ext cx="2873785" cy="464181"/>
            </a:xfrm>
            <a:custGeom>
              <a:avLst/>
              <a:gdLst/>
              <a:ahLst/>
              <a:cxnLst/>
              <a:rect r="r" b="b" t="t" l="l"/>
              <a:pathLst>
                <a:path h="464181" w="2873785">
                  <a:moveTo>
                    <a:pt x="18401" y="0"/>
                  </a:moveTo>
                  <a:lnTo>
                    <a:pt x="2855384" y="0"/>
                  </a:lnTo>
                  <a:cubicBezTo>
                    <a:pt x="2860265" y="0"/>
                    <a:pt x="2864945" y="1939"/>
                    <a:pt x="2868396" y="5389"/>
                  </a:cubicBezTo>
                  <a:cubicBezTo>
                    <a:pt x="2871846" y="8840"/>
                    <a:pt x="2873785" y="13520"/>
                    <a:pt x="2873785" y="18401"/>
                  </a:cubicBezTo>
                  <a:lnTo>
                    <a:pt x="2873785" y="445780"/>
                  </a:lnTo>
                  <a:cubicBezTo>
                    <a:pt x="2873785" y="450660"/>
                    <a:pt x="2871846" y="455340"/>
                    <a:pt x="2868396" y="458791"/>
                  </a:cubicBezTo>
                  <a:cubicBezTo>
                    <a:pt x="2864945" y="462242"/>
                    <a:pt x="2860265" y="464181"/>
                    <a:pt x="2855384" y="464181"/>
                  </a:cubicBezTo>
                  <a:lnTo>
                    <a:pt x="18401" y="464181"/>
                  </a:lnTo>
                  <a:cubicBezTo>
                    <a:pt x="13520" y="464181"/>
                    <a:pt x="8840" y="462242"/>
                    <a:pt x="5389" y="458791"/>
                  </a:cubicBezTo>
                  <a:cubicBezTo>
                    <a:pt x="1939" y="455340"/>
                    <a:pt x="0" y="450660"/>
                    <a:pt x="0" y="445780"/>
                  </a:cubicBezTo>
                  <a:lnTo>
                    <a:pt x="0" y="18401"/>
                  </a:lnTo>
                  <a:cubicBezTo>
                    <a:pt x="0" y="13520"/>
                    <a:pt x="1939" y="8840"/>
                    <a:pt x="5389" y="5389"/>
                  </a:cubicBezTo>
                  <a:cubicBezTo>
                    <a:pt x="8840" y="1939"/>
                    <a:pt x="13520" y="0"/>
                    <a:pt x="18401" y="0"/>
                  </a:cubicBezTo>
                  <a:close/>
                </a:path>
              </a:pathLst>
            </a:custGeom>
            <a:solidFill>
              <a:srgbClr val="00357B"/>
            </a:solidFill>
          </p:spPr>
        </p:sp>
        <p:sp>
          <p:nvSpPr>
            <p:cNvPr name="TextBox 7" id="7"/>
            <p:cNvSpPr txBox="true"/>
            <p:nvPr/>
          </p:nvSpPr>
          <p:spPr>
            <a:xfrm>
              <a:off x="0" y="-9525"/>
              <a:ext cx="2873785" cy="473706"/>
            </a:xfrm>
            <a:prstGeom prst="rect">
              <a:avLst/>
            </a:prstGeom>
          </p:spPr>
          <p:txBody>
            <a:bodyPr anchor="ctr" rtlCol="false" tIns="50800" lIns="50800" bIns="50800" rIns="50800"/>
            <a:lstStyle/>
            <a:p>
              <a:pPr algn="ctr">
                <a:lnSpc>
                  <a:spcPts val="1980"/>
                </a:lnSpc>
              </a:pPr>
            </a:p>
          </p:txBody>
        </p:sp>
      </p:grpSp>
      <p:grpSp>
        <p:nvGrpSpPr>
          <p:cNvPr name="Group 8" id="8"/>
          <p:cNvGrpSpPr/>
          <p:nvPr/>
        </p:nvGrpSpPr>
        <p:grpSpPr>
          <a:xfrm rot="0">
            <a:off x="7133299" y="5951935"/>
            <a:ext cx="10518556" cy="1743423"/>
            <a:chOff x="0" y="0"/>
            <a:chExt cx="2873785" cy="476322"/>
          </a:xfrm>
        </p:grpSpPr>
        <p:sp>
          <p:nvSpPr>
            <p:cNvPr name="Freeform 9" id="9"/>
            <p:cNvSpPr/>
            <p:nvPr/>
          </p:nvSpPr>
          <p:spPr>
            <a:xfrm flipH="false" flipV="false" rot="0">
              <a:off x="0" y="0"/>
              <a:ext cx="2873785" cy="476322"/>
            </a:xfrm>
            <a:custGeom>
              <a:avLst/>
              <a:gdLst/>
              <a:ahLst/>
              <a:cxnLst/>
              <a:rect r="r" b="b" t="t" l="l"/>
              <a:pathLst>
                <a:path h="476322" w="2873785">
                  <a:moveTo>
                    <a:pt x="18401" y="0"/>
                  </a:moveTo>
                  <a:lnTo>
                    <a:pt x="2855384" y="0"/>
                  </a:lnTo>
                  <a:cubicBezTo>
                    <a:pt x="2860265" y="0"/>
                    <a:pt x="2864945" y="1939"/>
                    <a:pt x="2868396" y="5389"/>
                  </a:cubicBezTo>
                  <a:cubicBezTo>
                    <a:pt x="2871846" y="8840"/>
                    <a:pt x="2873785" y="13520"/>
                    <a:pt x="2873785" y="18401"/>
                  </a:cubicBezTo>
                  <a:lnTo>
                    <a:pt x="2873785" y="457922"/>
                  </a:lnTo>
                  <a:cubicBezTo>
                    <a:pt x="2873785" y="462802"/>
                    <a:pt x="2871846" y="467482"/>
                    <a:pt x="2868396" y="470933"/>
                  </a:cubicBezTo>
                  <a:cubicBezTo>
                    <a:pt x="2864945" y="474384"/>
                    <a:pt x="2860265" y="476322"/>
                    <a:pt x="2855384" y="476322"/>
                  </a:cubicBezTo>
                  <a:lnTo>
                    <a:pt x="18401" y="476322"/>
                  </a:lnTo>
                  <a:cubicBezTo>
                    <a:pt x="13520" y="476322"/>
                    <a:pt x="8840" y="474384"/>
                    <a:pt x="5389" y="470933"/>
                  </a:cubicBezTo>
                  <a:cubicBezTo>
                    <a:pt x="1939" y="467482"/>
                    <a:pt x="0" y="462802"/>
                    <a:pt x="0" y="457922"/>
                  </a:cubicBezTo>
                  <a:lnTo>
                    <a:pt x="0" y="18401"/>
                  </a:lnTo>
                  <a:cubicBezTo>
                    <a:pt x="0" y="13520"/>
                    <a:pt x="1939" y="8840"/>
                    <a:pt x="5389" y="5389"/>
                  </a:cubicBezTo>
                  <a:cubicBezTo>
                    <a:pt x="8840" y="1939"/>
                    <a:pt x="13520" y="0"/>
                    <a:pt x="18401" y="0"/>
                  </a:cubicBezTo>
                  <a:close/>
                </a:path>
              </a:pathLst>
            </a:custGeom>
            <a:solidFill>
              <a:srgbClr val="00357B"/>
            </a:solidFill>
          </p:spPr>
        </p:sp>
        <p:sp>
          <p:nvSpPr>
            <p:cNvPr name="TextBox 10" id="10"/>
            <p:cNvSpPr txBox="true"/>
            <p:nvPr/>
          </p:nvSpPr>
          <p:spPr>
            <a:xfrm>
              <a:off x="0" y="-9525"/>
              <a:ext cx="2873785" cy="485847"/>
            </a:xfrm>
            <a:prstGeom prst="rect">
              <a:avLst/>
            </a:prstGeom>
          </p:spPr>
          <p:txBody>
            <a:bodyPr anchor="ctr" rtlCol="false" tIns="50800" lIns="50800" bIns="50800" rIns="50800"/>
            <a:lstStyle/>
            <a:p>
              <a:pPr algn="ctr">
                <a:lnSpc>
                  <a:spcPts val="1980"/>
                </a:lnSpc>
              </a:pPr>
            </a:p>
          </p:txBody>
        </p:sp>
      </p:grpSp>
      <p:grpSp>
        <p:nvGrpSpPr>
          <p:cNvPr name="Group 11" id="11"/>
          <p:cNvGrpSpPr/>
          <p:nvPr/>
        </p:nvGrpSpPr>
        <p:grpSpPr>
          <a:xfrm rot="0">
            <a:off x="7133299" y="7992186"/>
            <a:ext cx="10518556" cy="1836512"/>
            <a:chOff x="0" y="0"/>
            <a:chExt cx="2873785" cy="501755"/>
          </a:xfrm>
        </p:grpSpPr>
        <p:sp>
          <p:nvSpPr>
            <p:cNvPr name="Freeform 12" id="12"/>
            <p:cNvSpPr/>
            <p:nvPr/>
          </p:nvSpPr>
          <p:spPr>
            <a:xfrm flipH="false" flipV="false" rot="0">
              <a:off x="0" y="0"/>
              <a:ext cx="2873785" cy="501755"/>
            </a:xfrm>
            <a:custGeom>
              <a:avLst/>
              <a:gdLst/>
              <a:ahLst/>
              <a:cxnLst/>
              <a:rect r="r" b="b" t="t" l="l"/>
              <a:pathLst>
                <a:path h="501755" w="2873785">
                  <a:moveTo>
                    <a:pt x="18401" y="0"/>
                  </a:moveTo>
                  <a:lnTo>
                    <a:pt x="2855384" y="0"/>
                  </a:lnTo>
                  <a:cubicBezTo>
                    <a:pt x="2860265" y="0"/>
                    <a:pt x="2864945" y="1939"/>
                    <a:pt x="2868396" y="5389"/>
                  </a:cubicBezTo>
                  <a:cubicBezTo>
                    <a:pt x="2871846" y="8840"/>
                    <a:pt x="2873785" y="13520"/>
                    <a:pt x="2873785" y="18401"/>
                  </a:cubicBezTo>
                  <a:lnTo>
                    <a:pt x="2873785" y="483355"/>
                  </a:lnTo>
                  <a:cubicBezTo>
                    <a:pt x="2873785" y="488235"/>
                    <a:pt x="2871846" y="492915"/>
                    <a:pt x="2868396" y="496366"/>
                  </a:cubicBezTo>
                  <a:cubicBezTo>
                    <a:pt x="2864945" y="499817"/>
                    <a:pt x="2860265" y="501755"/>
                    <a:pt x="2855384" y="501755"/>
                  </a:cubicBezTo>
                  <a:lnTo>
                    <a:pt x="18401" y="501755"/>
                  </a:lnTo>
                  <a:cubicBezTo>
                    <a:pt x="13520" y="501755"/>
                    <a:pt x="8840" y="499817"/>
                    <a:pt x="5389" y="496366"/>
                  </a:cubicBezTo>
                  <a:cubicBezTo>
                    <a:pt x="1939" y="492915"/>
                    <a:pt x="0" y="488235"/>
                    <a:pt x="0" y="483355"/>
                  </a:cubicBezTo>
                  <a:lnTo>
                    <a:pt x="0" y="18401"/>
                  </a:lnTo>
                  <a:cubicBezTo>
                    <a:pt x="0" y="13520"/>
                    <a:pt x="1939" y="8840"/>
                    <a:pt x="5389" y="5389"/>
                  </a:cubicBezTo>
                  <a:cubicBezTo>
                    <a:pt x="8840" y="1939"/>
                    <a:pt x="13520" y="0"/>
                    <a:pt x="18401" y="0"/>
                  </a:cubicBezTo>
                  <a:close/>
                </a:path>
              </a:pathLst>
            </a:custGeom>
            <a:solidFill>
              <a:srgbClr val="00357B"/>
            </a:solidFill>
          </p:spPr>
        </p:sp>
        <p:sp>
          <p:nvSpPr>
            <p:cNvPr name="TextBox 13" id="13"/>
            <p:cNvSpPr txBox="true"/>
            <p:nvPr/>
          </p:nvSpPr>
          <p:spPr>
            <a:xfrm>
              <a:off x="0" y="-9525"/>
              <a:ext cx="2873785" cy="511280"/>
            </a:xfrm>
            <a:prstGeom prst="rect">
              <a:avLst/>
            </a:prstGeom>
          </p:spPr>
          <p:txBody>
            <a:bodyPr anchor="ctr" rtlCol="false" tIns="50800" lIns="50800" bIns="50800" rIns="50800"/>
            <a:lstStyle/>
            <a:p>
              <a:pPr algn="ctr">
                <a:lnSpc>
                  <a:spcPts val="1980"/>
                </a:lnSpc>
              </a:pPr>
            </a:p>
          </p:txBody>
        </p:sp>
      </p:grpSp>
      <p:sp>
        <p:nvSpPr>
          <p:cNvPr name="Freeform 14" id="14"/>
          <p:cNvSpPr/>
          <p:nvPr/>
        </p:nvSpPr>
        <p:spPr>
          <a:xfrm flipH="true" flipV="false" rot="0">
            <a:off x="-790593" y="2169686"/>
            <a:ext cx="7428932" cy="7752235"/>
          </a:xfrm>
          <a:custGeom>
            <a:avLst/>
            <a:gdLst/>
            <a:ahLst/>
            <a:cxnLst/>
            <a:rect r="r" b="b" t="t" l="l"/>
            <a:pathLst>
              <a:path h="7752235" w="7428932">
                <a:moveTo>
                  <a:pt x="7428932" y="0"/>
                </a:moveTo>
                <a:lnTo>
                  <a:pt x="0" y="0"/>
                </a:lnTo>
                <a:lnTo>
                  <a:pt x="0" y="7752235"/>
                </a:lnTo>
                <a:lnTo>
                  <a:pt x="7428932" y="7752235"/>
                </a:lnTo>
                <a:lnTo>
                  <a:pt x="7428932" y="0"/>
                </a:lnTo>
                <a:close/>
              </a:path>
            </a:pathLst>
          </a:custGeom>
          <a:blipFill>
            <a:blip r:embed="rId5"/>
            <a:stretch>
              <a:fillRect l="0" t="0" r="0" b="-476"/>
            </a:stretch>
          </a:blipFill>
        </p:spPr>
      </p:sp>
      <p:sp>
        <p:nvSpPr>
          <p:cNvPr name="TextBox 15" id="15"/>
          <p:cNvSpPr txBox="true"/>
          <p:nvPr/>
        </p:nvSpPr>
        <p:spPr>
          <a:xfrm rot="0">
            <a:off x="7133299" y="790575"/>
            <a:ext cx="10126001" cy="2873374"/>
          </a:xfrm>
          <a:prstGeom prst="rect">
            <a:avLst/>
          </a:prstGeom>
        </p:spPr>
        <p:txBody>
          <a:bodyPr anchor="t" rtlCol="false" tIns="0" lIns="0" bIns="0" rIns="0">
            <a:spAutoFit/>
          </a:bodyPr>
          <a:lstStyle/>
          <a:p>
            <a:pPr algn="just">
              <a:lnSpc>
                <a:spcPts val="11200"/>
              </a:lnSpc>
              <a:spcBef>
                <a:spcPct val="0"/>
              </a:spcBef>
            </a:pPr>
            <a:r>
              <a:rPr lang="en-US" b="true" sz="8000">
                <a:solidFill>
                  <a:srgbClr val="000000"/>
                </a:solidFill>
                <a:latin typeface="Poppins Bold"/>
                <a:ea typeface="Poppins Bold"/>
                <a:cs typeface="Poppins Bold"/>
                <a:sym typeface="Poppins Bold"/>
              </a:rPr>
              <a:t>DATASET PREPROCESSING</a:t>
            </a:r>
          </a:p>
        </p:txBody>
      </p:sp>
      <p:sp>
        <p:nvSpPr>
          <p:cNvPr name="TextBox 16" id="16"/>
          <p:cNvSpPr txBox="true"/>
          <p:nvPr/>
        </p:nvSpPr>
        <p:spPr>
          <a:xfrm rot="0">
            <a:off x="7515358" y="4110415"/>
            <a:ext cx="9754437" cy="1410623"/>
          </a:xfrm>
          <a:prstGeom prst="rect">
            <a:avLst/>
          </a:prstGeom>
        </p:spPr>
        <p:txBody>
          <a:bodyPr anchor="t" rtlCol="false" tIns="0" lIns="0" bIns="0" rIns="0">
            <a:spAutoFit/>
          </a:bodyPr>
          <a:lstStyle/>
          <a:p>
            <a:pPr algn="just">
              <a:lnSpc>
                <a:spcPts val="2879"/>
              </a:lnSpc>
              <a:spcBef>
                <a:spcPct val="0"/>
              </a:spcBef>
            </a:pPr>
            <a:r>
              <a:rPr lang="en-US" sz="2057">
                <a:solidFill>
                  <a:srgbClr val="FFFFFF"/>
                </a:solidFill>
                <a:latin typeface="Nunito"/>
                <a:ea typeface="Nunito"/>
                <a:cs typeface="Nunito"/>
                <a:sym typeface="Nunito"/>
              </a:rPr>
              <a:t>A simulated acad</a:t>
            </a:r>
            <a:r>
              <a:rPr lang="en-US" sz="2057">
                <a:solidFill>
                  <a:srgbClr val="FFFFFF"/>
                </a:solidFill>
                <a:latin typeface="Nunito"/>
                <a:ea typeface="Nunito"/>
                <a:cs typeface="Nunito"/>
                <a:sym typeface="Nunito"/>
              </a:rPr>
              <a:t>emic dataset (300 rows) was created because real student data is private and hard to access. Profiles for Low / Medium / High risk use overlapping value ranges plus ~12% injected label noise, so the classes are not perfectly separable — this keeps the model's results realistic instead of artificially perfect.</a:t>
            </a:r>
          </a:p>
        </p:txBody>
      </p:sp>
      <p:sp>
        <p:nvSpPr>
          <p:cNvPr name="TextBox 17" id="17"/>
          <p:cNvSpPr txBox="true"/>
          <p:nvPr/>
        </p:nvSpPr>
        <p:spPr>
          <a:xfrm rot="0">
            <a:off x="7515358" y="6079845"/>
            <a:ext cx="9754437" cy="1526019"/>
          </a:xfrm>
          <a:prstGeom prst="rect">
            <a:avLst/>
          </a:prstGeom>
        </p:spPr>
        <p:txBody>
          <a:bodyPr anchor="t" rtlCol="false" tIns="0" lIns="0" bIns="0" rIns="0">
            <a:spAutoFit/>
          </a:bodyPr>
          <a:lstStyle/>
          <a:p>
            <a:pPr algn="just">
              <a:lnSpc>
                <a:spcPts val="3063"/>
              </a:lnSpc>
              <a:spcBef>
                <a:spcPct val="0"/>
              </a:spcBef>
            </a:pPr>
            <a:r>
              <a:rPr lang="en-US" sz="2188">
                <a:solidFill>
                  <a:srgbClr val="FFFFFF"/>
                </a:solidFill>
                <a:latin typeface="Nunito"/>
                <a:ea typeface="Nunito"/>
                <a:cs typeface="Nunito"/>
                <a:sym typeface="Nunito"/>
              </a:rPr>
              <a:t>Th</a:t>
            </a:r>
            <a:r>
              <a:rPr lang="en-US" sz="2188">
                <a:solidFill>
                  <a:srgbClr val="FFFFFF"/>
                </a:solidFill>
                <a:latin typeface="Nunito"/>
                <a:ea typeface="Nunito"/>
                <a:cs typeface="Nunito"/>
                <a:sym typeface="Nunito"/>
              </a:rPr>
              <a:t>e dataset has 7 features — course, study hours, attendance, deadline days, pass grade, assignment difficulty, and workload level — and the target, academic risk level. These reflect realistic study behavior and workload conditions.</a:t>
            </a:r>
          </a:p>
        </p:txBody>
      </p:sp>
      <p:sp>
        <p:nvSpPr>
          <p:cNvPr name="TextBox 18" id="18"/>
          <p:cNvSpPr txBox="true"/>
          <p:nvPr/>
        </p:nvSpPr>
        <p:spPr>
          <a:xfrm rot="0">
            <a:off x="7515358" y="8161496"/>
            <a:ext cx="9754437" cy="1562582"/>
          </a:xfrm>
          <a:prstGeom prst="rect">
            <a:avLst/>
          </a:prstGeom>
        </p:spPr>
        <p:txBody>
          <a:bodyPr anchor="t" rtlCol="false" tIns="0" lIns="0" bIns="0" rIns="0">
            <a:spAutoFit/>
          </a:bodyPr>
          <a:lstStyle/>
          <a:p>
            <a:pPr algn="just">
              <a:lnSpc>
                <a:spcPts val="2508"/>
              </a:lnSpc>
              <a:spcBef>
                <a:spcPct val="0"/>
              </a:spcBef>
            </a:pPr>
            <a:r>
              <a:rPr lang="en-US" sz="1791">
                <a:solidFill>
                  <a:srgbClr val="FFFFFF"/>
                </a:solidFill>
                <a:latin typeface="Nunito"/>
                <a:ea typeface="Nunito"/>
                <a:cs typeface="Nunito"/>
                <a:sym typeface="Nunito"/>
              </a:rPr>
              <a:t>During preproc</a:t>
            </a:r>
            <a:r>
              <a:rPr lang="en-US" sz="1791">
                <a:solidFill>
                  <a:srgbClr val="FFFFFF"/>
                </a:solidFill>
                <a:latin typeface="Nunito"/>
                <a:ea typeface="Nunito"/>
                <a:cs typeface="Nunito"/>
                <a:sym typeface="Nunito"/>
              </a:rPr>
              <a:t>essing, missing values are imputed (median for numeric features, mode for categorical features), duplicate rows are removed, values are standardized, and categorical variables are label-encoded. Although the current dataset contains no missing values, imputation is included as a safeguard because Random Forest cannot process missing values directly.</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263145" y="6893543"/>
            <a:ext cx="4819678" cy="4114800"/>
          </a:xfrm>
          <a:custGeom>
            <a:avLst/>
            <a:gdLst/>
            <a:ahLst/>
            <a:cxnLst/>
            <a:rect r="r" b="b" t="t" l="l"/>
            <a:pathLst>
              <a:path h="4114800" w="4819678">
                <a:moveTo>
                  <a:pt x="0" y="0"/>
                </a:moveTo>
                <a:lnTo>
                  <a:pt x="4819678" y="0"/>
                </a:lnTo>
                <a:lnTo>
                  <a:pt x="4819678"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0">
            <a:off x="-263145" y="-964921"/>
            <a:ext cx="4819678" cy="4114800"/>
          </a:xfrm>
          <a:custGeom>
            <a:avLst/>
            <a:gdLst/>
            <a:ahLst/>
            <a:cxnLst/>
            <a:rect r="r" b="b" t="t" l="l"/>
            <a:pathLst>
              <a:path h="4114800" w="4819678">
                <a:moveTo>
                  <a:pt x="0" y="4114800"/>
                </a:moveTo>
                <a:lnTo>
                  <a:pt x="4819678" y="4114800"/>
                </a:lnTo>
                <a:lnTo>
                  <a:pt x="4819678" y="0"/>
                </a:lnTo>
                <a:lnTo>
                  <a:pt x="0" y="0"/>
                </a:lnTo>
                <a:lnTo>
                  <a:pt x="0" y="411480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0">
            <a:off x="16184955" y="-1762125"/>
            <a:ext cx="3083785" cy="2790825"/>
          </a:xfrm>
          <a:custGeom>
            <a:avLst/>
            <a:gdLst/>
            <a:ahLst/>
            <a:cxnLst/>
            <a:rect r="r" b="b" t="t" l="l"/>
            <a:pathLst>
              <a:path h="2790825" w="3083785">
                <a:moveTo>
                  <a:pt x="3083785" y="0"/>
                </a:moveTo>
                <a:lnTo>
                  <a:pt x="0" y="0"/>
                </a:lnTo>
                <a:lnTo>
                  <a:pt x="0" y="2790825"/>
                </a:lnTo>
                <a:lnTo>
                  <a:pt x="3083785" y="2790825"/>
                </a:lnTo>
                <a:lnTo>
                  <a:pt x="3083785"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0">
            <a:off x="16184955" y="8536052"/>
            <a:ext cx="3083785" cy="2790825"/>
          </a:xfrm>
          <a:custGeom>
            <a:avLst/>
            <a:gdLst/>
            <a:ahLst/>
            <a:cxnLst/>
            <a:rect r="r" b="b" t="t" l="l"/>
            <a:pathLst>
              <a:path h="2790825" w="3083785">
                <a:moveTo>
                  <a:pt x="3083785" y="0"/>
                </a:moveTo>
                <a:lnTo>
                  <a:pt x="0" y="0"/>
                </a:lnTo>
                <a:lnTo>
                  <a:pt x="0" y="2790825"/>
                </a:lnTo>
                <a:lnTo>
                  <a:pt x="3083785" y="2790825"/>
                </a:lnTo>
                <a:lnTo>
                  <a:pt x="3083785"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9144000" y="1873445"/>
            <a:ext cx="12395662" cy="8413555"/>
          </a:xfrm>
          <a:custGeom>
            <a:avLst/>
            <a:gdLst/>
            <a:ahLst/>
            <a:cxnLst/>
            <a:rect r="r" b="b" t="t" l="l"/>
            <a:pathLst>
              <a:path h="8413555" w="12395662">
                <a:moveTo>
                  <a:pt x="0" y="0"/>
                </a:moveTo>
                <a:lnTo>
                  <a:pt x="12395662" y="0"/>
                </a:lnTo>
                <a:lnTo>
                  <a:pt x="12395662" y="8413555"/>
                </a:lnTo>
                <a:lnTo>
                  <a:pt x="0" y="841355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8" id="8"/>
          <p:cNvSpPr txBox="true"/>
          <p:nvPr/>
        </p:nvSpPr>
        <p:spPr>
          <a:xfrm rot="0">
            <a:off x="1380629" y="790575"/>
            <a:ext cx="6989445" cy="2873374"/>
          </a:xfrm>
          <a:prstGeom prst="rect">
            <a:avLst/>
          </a:prstGeom>
        </p:spPr>
        <p:txBody>
          <a:bodyPr anchor="t" rtlCol="false" tIns="0" lIns="0" bIns="0" rIns="0">
            <a:spAutoFit/>
          </a:bodyPr>
          <a:lstStyle/>
          <a:p>
            <a:pPr algn="just">
              <a:lnSpc>
                <a:spcPts val="11200"/>
              </a:lnSpc>
              <a:spcBef>
                <a:spcPct val="0"/>
              </a:spcBef>
            </a:pPr>
            <a:r>
              <a:rPr lang="en-US" b="true" sz="8000">
                <a:solidFill>
                  <a:srgbClr val="000000"/>
                </a:solidFill>
                <a:latin typeface="Poppins Bold"/>
                <a:ea typeface="Poppins Bold"/>
                <a:cs typeface="Poppins Bold"/>
                <a:sym typeface="Poppins Bold"/>
              </a:rPr>
              <a:t>FRONTE</a:t>
            </a:r>
            <a:r>
              <a:rPr lang="en-US" b="true" sz="8000">
                <a:solidFill>
                  <a:srgbClr val="000000"/>
                </a:solidFill>
                <a:latin typeface="Poppins Bold"/>
                <a:ea typeface="Poppins Bold"/>
                <a:cs typeface="Poppins Bold"/>
                <a:sym typeface="Poppins Bold"/>
              </a:rPr>
              <a:t>ND DASHBOARD</a:t>
            </a:r>
          </a:p>
        </p:txBody>
      </p:sp>
      <p:sp>
        <p:nvSpPr>
          <p:cNvPr name="TextBox 9" id="9"/>
          <p:cNvSpPr txBox="true"/>
          <p:nvPr/>
        </p:nvSpPr>
        <p:spPr>
          <a:xfrm rot="0">
            <a:off x="1380629" y="3824168"/>
            <a:ext cx="6919136" cy="5321193"/>
          </a:xfrm>
          <a:prstGeom prst="rect">
            <a:avLst/>
          </a:prstGeom>
        </p:spPr>
        <p:txBody>
          <a:bodyPr anchor="t" rtlCol="false" tIns="0" lIns="0" bIns="0" rIns="0">
            <a:spAutoFit/>
          </a:bodyPr>
          <a:lstStyle/>
          <a:p>
            <a:pPr algn="just">
              <a:lnSpc>
                <a:spcPts val="3294"/>
              </a:lnSpc>
              <a:spcBef>
                <a:spcPct val="0"/>
              </a:spcBef>
            </a:pPr>
            <a:r>
              <a:rPr lang="en-US" sz="2353">
                <a:solidFill>
                  <a:srgbClr val="000000"/>
                </a:solidFill>
                <a:latin typeface="Nunito"/>
                <a:ea typeface="Nunito"/>
                <a:cs typeface="Nunito"/>
                <a:sym typeface="Nunito"/>
              </a:rPr>
              <a:t>Th</a:t>
            </a:r>
            <a:r>
              <a:rPr lang="en-US" sz="2353">
                <a:solidFill>
                  <a:srgbClr val="000000"/>
                </a:solidFill>
                <a:latin typeface="Nunito"/>
                <a:ea typeface="Nunito"/>
                <a:cs typeface="Nunito"/>
                <a:sym typeface="Nunito"/>
              </a:rPr>
              <a:t>e frontend is a Streamlit application (Studor) with a Supabase-backed login (sign in / register / password reset). After authentication, a custom sidebar routes to seven pages: Dashboard (KPIs, risk distribution, deadlines), Course Analytics, Risk Prediction (model form with confidence, probabilities, and recommendations), Study Schedule, Recommendations, Model Results (confusion matrix, feature importance, test predictions), and Profile. The dark-theme UI focuses on readability, clear visualization (Plotly charts), and a realistic scope for a university AI MVP.</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7685314" y="-32228"/>
            <a:ext cx="9573986" cy="2873374"/>
          </a:xfrm>
          <a:prstGeom prst="rect">
            <a:avLst/>
          </a:prstGeom>
        </p:spPr>
        <p:txBody>
          <a:bodyPr anchor="t" rtlCol="false" tIns="0" lIns="0" bIns="0" rIns="0">
            <a:spAutoFit/>
          </a:bodyPr>
          <a:lstStyle/>
          <a:p>
            <a:pPr algn="just">
              <a:lnSpc>
                <a:spcPts val="11200"/>
              </a:lnSpc>
              <a:spcBef>
                <a:spcPct val="0"/>
              </a:spcBef>
            </a:pPr>
            <a:r>
              <a:rPr lang="en-US" b="true" sz="8000">
                <a:solidFill>
                  <a:srgbClr val="000000"/>
                </a:solidFill>
                <a:latin typeface="Poppins Bold"/>
                <a:ea typeface="Poppins Bold"/>
                <a:cs typeface="Poppins Bold"/>
                <a:sym typeface="Poppins Bold"/>
              </a:rPr>
              <a:t>MACH</a:t>
            </a:r>
            <a:r>
              <a:rPr lang="en-US" b="true" sz="8000">
                <a:solidFill>
                  <a:srgbClr val="000000"/>
                </a:solidFill>
                <a:latin typeface="Poppins Bold"/>
                <a:ea typeface="Poppins Bold"/>
                <a:cs typeface="Poppins Bold"/>
                <a:sym typeface="Poppins Bold"/>
              </a:rPr>
              <a:t>INE LEARNING MODEL</a:t>
            </a:r>
          </a:p>
        </p:txBody>
      </p:sp>
      <p:sp>
        <p:nvSpPr>
          <p:cNvPr name="Freeform 4" id="4"/>
          <p:cNvSpPr/>
          <p:nvPr/>
        </p:nvSpPr>
        <p:spPr>
          <a:xfrm flipH="false" flipV="false" rot="-10800000">
            <a:off x="14955706" y="-500898"/>
            <a:ext cx="3861908" cy="3297104"/>
          </a:xfrm>
          <a:custGeom>
            <a:avLst/>
            <a:gdLst/>
            <a:ahLst/>
            <a:cxnLst/>
            <a:rect r="r" b="b" t="t" l="l"/>
            <a:pathLst>
              <a:path h="3297104" w="3861908">
                <a:moveTo>
                  <a:pt x="0" y="0"/>
                </a:moveTo>
                <a:lnTo>
                  <a:pt x="3861908" y="0"/>
                </a:lnTo>
                <a:lnTo>
                  <a:pt x="3861908" y="3297104"/>
                </a:lnTo>
                <a:lnTo>
                  <a:pt x="0" y="32971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0" y="7195451"/>
            <a:ext cx="3861908" cy="3297104"/>
          </a:xfrm>
          <a:custGeom>
            <a:avLst/>
            <a:gdLst/>
            <a:ahLst/>
            <a:cxnLst/>
            <a:rect r="r" b="b" t="t" l="l"/>
            <a:pathLst>
              <a:path h="3297104" w="3861908">
                <a:moveTo>
                  <a:pt x="0" y="0"/>
                </a:moveTo>
                <a:lnTo>
                  <a:pt x="3861908" y="0"/>
                </a:lnTo>
                <a:lnTo>
                  <a:pt x="3861908" y="3297104"/>
                </a:lnTo>
                <a:lnTo>
                  <a:pt x="0" y="32971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8920926" y="7446895"/>
            <a:ext cx="7825182" cy="448638"/>
          </a:xfrm>
          <a:prstGeom prst="rect">
            <a:avLst/>
          </a:prstGeom>
        </p:spPr>
        <p:txBody>
          <a:bodyPr anchor="t" rtlCol="false" tIns="0" lIns="0" bIns="0" rIns="0">
            <a:spAutoFit/>
          </a:bodyPr>
          <a:lstStyle/>
          <a:p>
            <a:pPr algn="just">
              <a:lnSpc>
                <a:spcPts val="3746"/>
              </a:lnSpc>
              <a:spcBef>
                <a:spcPct val="0"/>
              </a:spcBef>
            </a:pPr>
            <a:r>
              <a:rPr lang="en-US" b="true" sz="2675">
                <a:solidFill>
                  <a:srgbClr val="000000"/>
                </a:solidFill>
                <a:latin typeface="Nunito Bold"/>
                <a:ea typeface="Nunito Bold"/>
                <a:cs typeface="Nunito Bold"/>
                <a:sym typeface="Nunito Bold"/>
              </a:rPr>
              <a:t>Prediction Output</a:t>
            </a:r>
          </a:p>
        </p:txBody>
      </p:sp>
      <p:sp>
        <p:nvSpPr>
          <p:cNvPr name="Freeform 7" id="7"/>
          <p:cNvSpPr/>
          <p:nvPr/>
        </p:nvSpPr>
        <p:spPr>
          <a:xfrm flipH="true" flipV="false" rot="0">
            <a:off x="16746108" y="7701730"/>
            <a:ext cx="3083785" cy="2790825"/>
          </a:xfrm>
          <a:custGeom>
            <a:avLst/>
            <a:gdLst/>
            <a:ahLst/>
            <a:cxnLst/>
            <a:rect r="r" b="b" t="t" l="l"/>
            <a:pathLst>
              <a:path h="2790825" w="3083785">
                <a:moveTo>
                  <a:pt x="3083784" y="0"/>
                </a:moveTo>
                <a:lnTo>
                  <a:pt x="0" y="0"/>
                </a:lnTo>
                <a:lnTo>
                  <a:pt x="0" y="2790825"/>
                </a:lnTo>
                <a:lnTo>
                  <a:pt x="3083784" y="2790825"/>
                </a:lnTo>
                <a:lnTo>
                  <a:pt x="3083784"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8471119" y="3202758"/>
            <a:ext cx="319714" cy="320917"/>
          </a:xfrm>
          <a:custGeom>
            <a:avLst/>
            <a:gdLst/>
            <a:ahLst/>
            <a:cxnLst/>
            <a:rect r="r" b="b" t="t" l="l"/>
            <a:pathLst>
              <a:path h="320917" w="319714">
                <a:moveTo>
                  <a:pt x="0" y="0"/>
                </a:moveTo>
                <a:lnTo>
                  <a:pt x="319714" y="0"/>
                </a:lnTo>
                <a:lnTo>
                  <a:pt x="319714" y="320917"/>
                </a:lnTo>
                <a:lnTo>
                  <a:pt x="0" y="32091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8471119" y="5368824"/>
            <a:ext cx="319714" cy="320917"/>
          </a:xfrm>
          <a:custGeom>
            <a:avLst/>
            <a:gdLst/>
            <a:ahLst/>
            <a:cxnLst/>
            <a:rect r="r" b="b" t="t" l="l"/>
            <a:pathLst>
              <a:path h="320917" w="319714">
                <a:moveTo>
                  <a:pt x="0" y="0"/>
                </a:moveTo>
                <a:lnTo>
                  <a:pt x="319714" y="0"/>
                </a:lnTo>
                <a:lnTo>
                  <a:pt x="319714" y="320917"/>
                </a:lnTo>
                <a:lnTo>
                  <a:pt x="0" y="32091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8471119" y="7534568"/>
            <a:ext cx="319714" cy="320917"/>
          </a:xfrm>
          <a:custGeom>
            <a:avLst/>
            <a:gdLst/>
            <a:ahLst/>
            <a:cxnLst/>
            <a:rect r="r" b="b" t="t" l="l"/>
            <a:pathLst>
              <a:path h="320917" w="319714">
                <a:moveTo>
                  <a:pt x="0" y="0"/>
                </a:moveTo>
                <a:lnTo>
                  <a:pt x="319714" y="0"/>
                </a:lnTo>
                <a:lnTo>
                  <a:pt x="319714" y="320917"/>
                </a:lnTo>
                <a:lnTo>
                  <a:pt x="0" y="32091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false" flipV="false" rot="0">
            <a:off x="0" y="2422507"/>
            <a:ext cx="7500760" cy="7864493"/>
          </a:xfrm>
          <a:custGeom>
            <a:avLst/>
            <a:gdLst/>
            <a:ahLst/>
            <a:cxnLst/>
            <a:rect r="r" b="b" t="t" l="l"/>
            <a:pathLst>
              <a:path h="7864493" w="7500760">
                <a:moveTo>
                  <a:pt x="0" y="0"/>
                </a:moveTo>
                <a:lnTo>
                  <a:pt x="7500760" y="0"/>
                </a:lnTo>
                <a:lnTo>
                  <a:pt x="7500760" y="7864493"/>
                </a:lnTo>
                <a:lnTo>
                  <a:pt x="0" y="786449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2" id="12"/>
          <p:cNvSpPr txBox="true"/>
          <p:nvPr/>
        </p:nvSpPr>
        <p:spPr>
          <a:xfrm rot="0">
            <a:off x="8920926" y="3115085"/>
            <a:ext cx="7825182" cy="448638"/>
          </a:xfrm>
          <a:prstGeom prst="rect">
            <a:avLst/>
          </a:prstGeom>
        </p:spPr>
        <p:txBody>
          <a:bodyPr anchor="t" rtlCol="false" tIns="0" lIns="0" bIns="0" rIns="0">
            <a:spAutoFit/>
          </a:bodyPr>
          <a:lstStyle/>
          <a:p>
            <a:pPr algn="just">
              <a:lnSpc>
                <a:spcPts val="3746"/>
              </a:lnSpc>
              <a:spcBef>
                <a:spcPct val="0"/>
              </a:spcBef>
            </a:pPr>
            <a:r>
              <a:rPr lang="en-US" b="true" sz="2675">
                <a:solidFill>
                  <a:srgbClr val="000000"/>
                </a:solidFill>
                <a:latin typeface="Nunito Bold"/>
                <a:ea typeface="Nunito Bold"/>
                <a:cs typeface="Nunito Bold"/>
                <a:sym typeface="Nunito Bold"/>
              </a:rPr>
              <a:t>Model Selection</a:t>
            </a:r>
          </a:p>
        </p:txBody>
      </p:sp>
      <p:sp>
        <p:nvSpPr>
          <p:cNvPr name="TextBox 13" id="13"/>
          <p:cNvSpPr txBox="true"/>
          <p:nvPr/>
        </p:nvSpPr>
        <p:spPr>
          <a:xfrm rot="0">
            <a:off x="8920926" y="5281151"/>
            <a:ext cx="7825182" cy="448638"/>
          </a:xfrm>
          <a:prstGeom prst="rect">
            <a:avLst/>
          </a:prstGeom>
        </p:spPr>
        <p:txBody>
          <a:bodyPr anchor="t" rtlCol="false" tIns="0" lIns="0" bIns="0" rIns="0">
            <a:spAutoFit/>
          </a:bodyPr>
          <a:lstStyle/>
          <a:p>
            <a:pPr algn="just">
              <a:lnSpc>
                <a:spcPts val="3746"/>
              </a:lnSpc>
              <a:spcBef>
                <a:spcPct val="0"/>
              </a:spcBef>
            </a:pPr>
            <a:r>
              <a:rPr lang="en-US" b="true" sz="2675">
                <a:solidFill>
                  <a:srgbClr val="000000"/>
                </a:solidFill>
                <a:latin typeface="Nunito Bold"/>
                <a:ea typeface="Nunito Bold"/>
                <a:cs typeface="Nunito Bold"/>
                <a:sym typeface="Nunito Bold"/>
              </a:rPr>
              <a:t>Training Process</a:t>
            </a:r>
          </a:p>
        </p:txBody>
      </p:sp>
      <p:sp>
        <p:nvSpPr>
          <p:cNvPr name="TextBox 14" id="14"/>
          <p:cNvSpPr txBox="true"/>
          <p:nvPr/>
        </p:nvSpPr>
        <p:spPr>
          <a:xfrm rot="0">
            <a:off x="8920926" y="3610128"/>
            <a:ext cx="7825182" cy="1369873"/>
          </a:xfrm>
          <a:prstGeom prst="rect">
            <a:avLst/>
          </a:prstGeom>
        </p:spPr>
        <p:txBody>
          <a:bodyPr anchor="t" rtlCol="false" tIns="0" lIns="0" bIns="0" rIns="0">
            <a:spAutoFit/>
          </a:bodyPr>
          <a:lstStyle/>
          <a:p>
            <a:pPr algn="just">
              <a:lnSpc>
                <a:spcPts val="2720"/>
              </a:lnSpc>
              <a:spcBef>
                <a:spcPct val="0"/>
              </a:spcBef>
            </a:pPr>
            <a:r>
              <a:rPr lang="en-US" sz="1942">
                <a:solidFill>
                  <a:srgbClr val="000000"/>
                </a:solidFill>
                <a:latin typeface="Nunito"/>
                <a:ea typeface="Nunito"/>
                <a:cs typeface="Nunito"/>
                <a:sym typeface="Nunito"/>
              </a:rPr>
              <a:t>A </a:t>
            </a:r>
            <a:r>
              <a:rPr lang="en-US" sz="1942">
                <a:solidFill>
                  <a:srgbClr val="000000"/>
                </a:solidFill>
                <a:latin typeface="Nunito"/>
                <a:ea typeface="Nunito"/>
                <a:cs typeface="Nunito"/>
                <a:sym typeface="Nunito"/>
              </a:rPr>
              <a:t>Random Forest Classifier was selected because it provides reliable predictions, works well with different types of features, and offers interpretable feature importance scores. It is a robust model that is widely used for classification tasks.</a:t>
            </a:r>
          </a:p>
        </p:txBody>
      </p:sp>
      <p:sp>
        <p:nvSpPr>
          <p:cNvPr name="TextBox 15" id="15"/>
          <p:cNvSpPr txBox="true"/>
          <p:nvPr/>
        </p:nvSpPr>
        <p:spPr>
          <a:xfrm rot="0">
            <a:off x="8920926" y="5773921"/>
            <a:ext cx="7825182" cy="1369479"/>
          </a:xfrm>
          <a:prstGeom prst="rect">
            <a:avLst/>
          </a:prstGeom>
        </p:spPr>
        <p:txBody>
          <a:bodyPr anchor="t" rtlCol="false" tIns="0" lIns="0" bIns="0" rIns="0">
            <a:spAutoFit/>
          </a:bodyPr>
          <a:lstStyle/>
          <a:p>
            <a:pPr algn="just">
              <a:lnSpc>
                <a:spcPts val="2741"/>
              </a:lnSpc>
              <a:spcBef>
                <a:spcPct val="0"/>
              </a:spcBef>
            </a:pPr>
            <a:r>
              <a:rPr lang="en-US" sz="1958">
                <a:solidFill>
                  <a:srgbClr val="000000"/>
                </a:solidFill>
                <a:latin typeface="Nunito"/>
                <a:ea typeface="Nunito"/>
                <a:cs typeface="Nunito"/>
                <a:sym typeface="Nunito"/>
              </a:rPr>
              <a:t>Th</a:t>
            </a:r>
            <a:r>
              <a:rPr lang="en-US" sz="1958">
                <a:solidFill>
                  <a:srgbClr val="000000"/>
                </a:solidFill>
                <a:latin typeface="Nunito"/>
                <a:ea typeface="Nunito"/>
                <a:cs typeface="Nunito"/>
                <a:sym typeface="Nunito"/>
              </a:rPr>
              <a:t>e dataset was cleaned, preprocessed, and encoded before training. A stratified train-validation-test split was applied to ensure balanced class distribution, and 5-Fold Cross Validation was used to evaluate the model's performance and reliability.</a:t>
            </a:r>
          </a:p>
        </p:txBody>
      </p:sp>
      <p:sp>
        <p:nvSpPr>
          <p:cNvPr name="TextBox 16" id="16"/>
          <p:cNvSpPr txBox="true"/>
          <p:nvPr/>
        </p:nvSpPr>
        <p:spPr>
          <a:xfrm rot="0">
            <a:off x="8920926" y="7937391"/>
            <a:ext cx="7825182" cy="1369709"/>
          </a:xfrm>
          <a:prstGeom prst="rect">
            <a:avLst/>
          </a:prstGeom>
        </p:spPr>
        <p:txBody>
          <a:bodyPr anchor="t" rtlCol="false" tIns="0" lIns="0" bIns="0" rIns="0">
            <a:spAutoFit/>
          </a:bodyPr>
          <a:lstStyle/>
          <a:p>
            <a:pPr algn="just">
              <a:lnSpc>
                <a:spcPts val="2729"/>
              </a:lnSpc>
              <a:spcBef>
                <a:spcPct val="0"/>
              </a:spcBef>
            </a:pPr>
            <a:r>
              <a:rPr lang="en-US" sz="1949">
                <a:solidFill>
                  <a:srgbClr val="000000"/>
                </a:solidFill>
                <a:latin typeface="Nunito"/>
                <a:ea typeface="Nunito"/>
                <a:cs typeface="Nunito"/>
                <a:sym typeface="Nunito"/>
              </a:rPr>
              <a:t>The model predicts whether a student is at Low, Medium, or High academic risk. It also provides c</a:t>
            </a:r>
            <a:r>
              <a:rPr lang="en-US" sz="1949">
                <a:solidFill>
                  <a:srgbClr val="000000"/>
                </a:solidFill>
                <a:latin typeface="Nunito"/>
                <a:ea typeface="Nunito"/>
                <a:cs typeface="Nunito"/>
                <a:sym typeface="Nunito"/>
              </a:rPr>
              <a:t>onfidence scores and supports the generation of personalized study recommendations to help students manage their workload more effectively.</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10800000">
            <a:off x="14722993" y="-442370"/>
            <a:ext cx="3861908" cy="3297104"/>
          </a:xfrm>
          <a:custGeom>
            <a:avLst/>
            <a:gdLst/>
            <a:ahLst/>
            <a:cxnLst/>
            <a:rect r="r" b="b" t="t" l="l"/>
            <a:pathLst>
              <a:path h="3297104" w="3861908">
                <a:moveTo>
                  <a:pt x="0" y="0"/>
                </a:moveTo>
                <a:lnTo>
                  <a:pt x="3861908" y="0"/>
                </a:lnTo>
                <a:lnTo>
                  <a:pt x="3861908" y="3297104"/>
                </a:lnTo>
                <a:lnTo>
                  <a:pt x="0" y="32971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0" y="7008946"/>
            <a:ext cx="3861908" cy="3297104"/>
          </a:xfrm>
          <a:custGeom>
            <a:avLst/>
            <a:gdLst/>
            <a:ahLst/>
            <a:cxnLst/>
            <a:rect r="r" b="b" t="t" l="l"/>
            <a:pathLst>
              <a:path h="3297104" w="3861908">
                <a:moveTo>
                  <a:pt x="0" y="0"/>
                </a:moveTo>
                <a:lnTo>
                  <a:pt x="3861908" y="0"/>
                </a:lnTo>
                <a:lnTo>
                  <a:pt x="3861908" y="3297104"/>
                </a:lnTo>
                <a:lnTo>
                  <a:pt x="0" y="32971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156471" y="2097294"/>
            <a:ext cx="15975058" cy="7346419"/>
          </a:xfrm>
          <a:custGeom>
            <a:avLst/>
            <a:gdLst/>
            <a:ahLst/>
            <a:cxnLst/>
            <a:rect r="r" b="b" t="t" l="l"/>
            <a:pathLst>
              <a:path h="7346419" w="15975058">
                <a:moveTo>
                  <a:pt x="0" y="0"/>
                </a:moveTo>
                <a:lnTo>
                  <a:pt x="15975058" y="0"/>
                </a:lnTo>
                <a:lnTo>
                  <a:pt x="15975058" y="7346419"/>
                </a:lnTo>
                <a:lnTo>
                  <a:pt x="0" y="7346419"/>
                </a:lnTo>
                <a:lnTo>
                  <a:pt x="0" y="0"/>
                </a:lnTo>
                <a:close/>
              </a:path>
            </a:pathLst>
          </a:custGeom>
          <a:blipFill>
            <a:blip r:embed="rId5"/>
            <a:stretch>
              <a:fillRect l="0" t="-2800" r="0" b="0"/>
            </a:stretch>
          </a:blipFill>
        </p:spPr>
      </p:sp>
      <p:sp>
        <p:nvSpPr>
          <p:cNvPr name="TextBox 6" id="6"/>
          <p:cNvSpPr txBox="true"/>
          <p:nvPr/>
        </p:nvSpPr>
        <p:spPr>
          <a:xfrm rot="0">
            <a:off x="6050010" y="415609"/>
            <a:ext cx="6187980" cy="1362071"/>
          </a:xfrm>
          <a:prstGeom prst="rect">
            <a:avLst/>
          </a:prstGeom>
        </p:spPr>
        <p:txBody>
          <a:bodyPr anchor="t" rtlCol="false" tIns="0" lIns="0" bIns="0" rIns="0">
            <a:spAutoFit/>
          </a:bodyPr>
          <a:lstStyle/>
          <a:p>
            <a:pPr algn="just">
              <a:lnSpc>
                <a:spcPts val="10500"/>
              </a:lnSpc>
              <a:spcBef>
                <a:spcPct val="0"/>
              </a:spcBef>
            </a:pPr>
            <a:r>
              <a:rPr lang="en-US" b="true" sz="7500">
                <a:solidFill>
                  <a:srgbClr val="000000"/>
                </a:solidFill>
                <a:latin typeface="Poppins Bold"/>
                <a:ea typeface="Poppins Bold"/>
                <a:cs typeface="Poppins Bold"/>
                <a:sym typeface="Poppins Bold"/>
              </a:rPr>
              <a:t>LOGIN PAGE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10800000">
            <a:off x="14722993" y="-442370"/>
            <a:ext cx="3861908" cy="3297104"/>
          </a:xfrm>
          <a:custGeom>
            <a:avLst/>
            <a:gdLst/>
            <a:ahLst/>
            <a:cxnLst/>
            <a:rect r="r" b="b" t="t" l="l"/>
            <a:pathLst>
              <a:path h="3297104" w="3861908">
                <a:moveTo>
                  <a:pt x="0" y="0"/>
                </a:moveTo>
                <a:lnTo>
                  <a:pt x="3861908" y="0"/>
                </a:lnTo>
                <a:lnTo>
                  <a:pt x="3861908" y="3297104"/>
                </a:lnTo>
                <a:lnTo>
                  <a:pt x="0" y="32971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0" y="7008946"/>
            <a:ext cx="3861908" cy="3297104"/>
          </a:xfrm>
          <a:custGeom>
            <a:avLst/>
            <a:gdLst/>
            <a:ahLst/>
            <a:cxnLst/>
            <a:rect r="r" b="b" t="t" l="l"/>
            <a:pathLst>
              <a:path h="3297104" w="3861908">
                <a:moveTo>
                  <a:pt x="0" y="0"/>
                </a:moveTo>
                <a:lnTo>
                  <a:pt x="3861908" y="0"/>
                </a:lnTo>
                <a:lnTo>
                  <a:pt x="3861908" y="3297104"/>
                </a:lnTo>
                <a:lnTo>
                  <a:pt x="0" y="32971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028700" y="2109971"/>
            <a:ext cx="16562152" cy="7432266"/>
          </a:xfrm>
          <a:custGeom>
            <a:avLst/>
            <a:gdLst/>
            <a:ahLst/>
            <a:cxnLst/>
            <a:rect r="r" b="b" t="t" l="l"/>
            <a:pathLst>
              <a:path h="7432266" w="16562152">
                <a:moveTo>
                  <a:pt x="0" y="0"/>
                </a:moveTo>
                <a:lnTo>
                  <a:pt x="16562152" y="0"/>
                </a:lnTo>
                <a:lnTo>
                  <a:pt x="16562152" y="7432266"/>
                </a:lnTo>
                <a:lnTo>
                  <a:pt x="0" y="7432266"/>
                </a:lnTo>
                <a:lnTo>
                  <a:pt x="0" y="0"/>
                </a:lnTo>
                <a:close/>
              </a:path>
            </a:pathLst>
          </a:custGeom>
          <a:blipFill>
            <a:blip r:embed="rId5"/>
            <a:stretch>
              <a:fillRect l="0" t="0" r="0" b="0"/>
            </a:stretch>
          </a:blipFill>
        </p:spPr>
      </p:sp>
      <p:sp>
        <p:nvSpPr>
          <p:cNvPr name="TextBox 6" id="6"/>
          <p:cNvSpPr txBox="true"/>
          <p:nvPr/>
        </p:nvSpPr>
        <p:spPr>
          <a:xfrm rot="0">
            <a:off x="6050010" y="415609"/>
            <a:ext cx="6187980" cy="1362071"/>
          </a:xfrm>
          <a:prstGeom prst="rect">
            <a:avLst/>
          </a:prstGeom>
        </p:spPr>
        <p:txBody>
          <a:bodyPr anchor="t" rtlCol="false" tIns="0" lIns="0" bIns="0" rIns="0">
            <a:spAutoFit/>
          </a:bodyPr>
          <a:lstStyle/>
          <a:p>
            <a:pPr algn="just">
              <a:lnSpc>
                <a:spcPts val="10500"/>
              </a:lnSpc>
              <a:spcBef>
                <a:spcPct val="0"/>
              </a:spcBef>
            </a:pPr>
            <a:r>
              <a:rPr lang="en-US" b="true" sz="7500">
                <a:solidFill>
                  <a:srgbClr val="000000"/>
                </a:solidFill>
                <a:latin typeface="Poppins Bold"/>
                <a:ea typeface="Poppins Bold"/>
                <a:cs typeface="Poppins Bold"/>
                <a:sym typeface="Poppins Bold"/>
              </a:rPr>
              <a:t>DASHBOARD</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10800000">
            <a:off x="14722993" y="-442370"/>
            <a:ext cx="3861908" cy="3297104"/>
          </a:xfrm>
          <a:custGeom>
            <a:avLst/>
            <a:gdLst/>
            <a:ahLst/>
            <a:cxnLst/>
            <a:rect r="r" b="b" t="t" l="l"/>
            <a:pathLst>
              <a:path h="3297104" w="3861908">
                <a:moveTo>
                  <a:pt x="0" y="0"/>
                </a:moveTo>
                <a:lnTo>
                  <a:pt x="3861908" y="0"/>
                </a:lnTo>
                <a:lnTo>
                  <a:pt x="3861908" y="3297104"/>
                </a:lnTo>
                <a:lnTo>
                  <a:pt x="0" y="32971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0" y="7008946"/>
            <a:ext cx="3861908" cy="3297104"/>
          </a:xfrm>
          <a:custGeom>
            <a:avLst/>
            <a:gdLst/>
            <a:ahLst/>
            <a:cxnLst/>
            <a:rect r="r" b="b" t="t" l="l"/>
            <a:pathLst>
              <a:path h="3297104" w="3861908">
                <a:moveTo>
                  <a:pt x="0" y="0"/>
                </a:moveTo>
                <a:lnTo>
                  <a:pt x="3861908" y="0"/>
                </a:lnTo>
                <a:lnTo>
                  <a:pt x="3861908" y="3297104"/>
                </a:lnTo>
                <a:lnTo>
                  <a:pt x="0" y="32971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028700" y="2106824"/>
            <a:ext cx="16230600" cy="7648670"/>
          </a:xfrm>
          <a:custGeom>
            <a:avLst/>
            <a:gdLst/>
            <a:ahLst/>
            <a:cxnLst/>
            <a:rect r="r" b="b" t="t" l="l"/>
            <a:pathLst>
              <a:path h="7648670" w="16230600">
                <a:moveTo>
                  <a:pt x="0" y="0"/>
                </a:moveTo>
                <a:lnTo>
                  <a:pt x="16230600" y="0"/>
                </a:lnTo>
                <a:lnTo>
                  <a:pt x="16230600" y="7648670"/>
                </a:lnTo>
                <a:lnTo>
                  <a:pt x="0" y="7648670"/>
                </a:lnTo>
                <a:lnTo>
                  <a:pt x="0" y="0"/>
                </a:lnTo>
                <a:close/>
              </a:path>
            </a:pathLst>
          </a:custGeom>
          <a:blipFill>
            <a:blip r:embed="rId5"/>
            <a:stretch>
              <a:fillRect l="0" t="0" r="0" b="0"/>
            </a:stretch>
          </a:blipFill>
        </p:spPr>
      </p:sp>
      <p:sp>
        <p:nvSpPr>
          <p:cNvPr name="TextBox 6" id="6"/>
          <p:cNvSpPr txBox="true"/>
          <p:nvPr/>
        </p:nvSpPr>
        <p:spPr>
          <a:xfrm rot="0">
            <a:off x="5084146" y="415609"/>
            <a:ext cx="8119709" cy="1362071"/>
          </a:xfrm>
          <a:prstGeom prst="rect">
            <a:avLst/>
          </a:prstGeom>
        </p:spPr>
        <p:txBody>
          <a:bodyPr anchor="t" rtlCol="false" tIns="0" lIns="0" bIns="0" rIns="0">
            <a:spAutoFit/>
          </a:bodyPr>
          <a:lstStyle/>
          <a:p>
            <a:pPr algn="just">
              <a:lnSpc>
                <a:spcPts val="10500"/>
              </a:lnSpc>
              <a:spcBef>
                <a:spcPct val="0"/>
              </a:spcBef>
            </a:pPr>
            <a:r>
              <a:rPr lang="en-US" b="true" sz="7500">
                <a:solidFill>
                  <a:srgbClr val="000000"/>
                </a:solidFill>
                <a:latin typeface="Poppins Bold"/>
                <a:ea typeface="Poppins Bold"/>
                <a:cs typeface="Poppins Bold"/>
                <a:sym typeface="Poppins Bold"/>
              </a:rPr>
              <a:t>RISK PREDICTION</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10800000">
            <a:off x="14722993" y="-442370"/>
            <a:ext cx="3861908" cy="3297104"/>
          </a:xfrm>
          <a:custGeom>
            <a:avLst/>
            <a:gdLst/>
            <a:ahLst/>
            <a:cxnLst/>
            <a:rect r="r" b="b" t="t" l="l"/>
            <a:pathLst>
              <a:path h="3297104" w="3861908">
                <a:moveTo>
                  <a:pt x="0" y="0"/>
                </a:moveTo>
                <a:lnTo>
                  <a:pt x="3861908" y="0"/>
                </a:lnTo>
                <a:lnTo>
                  <a:pt x="3861908" y="3297104"/>
                </a:lnTo>
                <a:lnTo>
                  <a:pt x="0" y="32971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0" y="7008946"/>
            <a:ext cx="3861908" cy="3297104"/>
          </a:xfrm>
          <a:custGeom>
            <a:avLst/>
            <a:gdLst/>
            <a:ahLst/>
            <a:cxnLst/>
            <a:rect r="r" b="b" t="t" l="l"/>
            <a:pathLst>
              <a:path h="3297104" w="3861908">
                <a:moveTo>
                  <a:pt x="0" y="0"/>
                </a:moveTo>
                <a:lnTo>
                  <a:pt x="3861908" y="0"/>
                </a:lnTo>
                <a:lnTo>
                  <a:pt x="3861908" y="3297104"/>
                </a:lnTo>
                <a:lnTo>
                  <a:pt x="0" y="32971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079341" y="2298043"/>
            <a:ext cx="16129318" cy="7540456"/>
          </a:xfrm>
          <a:custGeom>
            <a:avLst/>
            <a:gdLst/>
            <a:ahLst/>
            <a:cxnLst/>
            <a:rect r="r" b="b" t="t" l="l"/>
            <a:pathLst>
              <a:path h="7540456" w="16129318">
                <a:moveTo>
                  <a:pt x="0" y="0"/>
                </a:moveTo>
                <a:lnTo>
                  <a:pt x="16129318" y="0"/>
                </a:lnTo>
                <a:lnTo>
                  <a:pt x="16129318" y="7540456"/>
                </a:lnTo>
                <a:lnTo>
                  <a:pt x="0" y="7540456"/>
                </a:lnTo>
                <a:lnTo>
                  <a:pt x="0" y="0"/>
                </a:lnTo>
                <a:close/>
              </a:path>
            </a:pathLst>
          </a:custGeom>
          <a:blipFill>
            <a:blip r:embed="rId5"/>
            <a:stretch>
              <a:fillRect l="0" t="0" r="0" b="0"/>
            </a:stretch>
          </a:blipFill>
        </p:spPr>
      </p:sp>
      <p:sp>
        <p:nvSpPr>
          <p:cNvPr name="TextBox 6" id="6"/>
          <p:cNvSpPr txBox="true"/>
          <p:nvPr/>
        </p:nvSpPr>
        <p:spPr>
          <a:xfrm rot="0">
            <a:off x="5084146" y="415609"/>
            <a:ext cx="8119709" cy="1362071"/>
          </a:xfrm>
          <a:prstGeom prst="rect">
            <a:avLst/>
          </a:prstGeom>
        </p:spPr>
        <p:txBody>
          <a:bodyPr anchor="t" rtlCol="false" tIns="0" lIns="0" bIns="0" rIns="0">
            <a:spAutoFit/>
          </a:bodyPr>
          <a:lstStyle/>
          <a:p>
            <a:pPr algn="just">
              <a:lnSpc>
                <a:spcPts val="10500"/>
              </a:lnSpc>
              <a:spcBef>
                <a:spcPct val="0"/>
              </a:spcBef>
            </a:pPr>
            <a:r>
              <a:rPr lang="en-US" b="true" sz="7500">
                <a:solidFill>
                  <a:srgbClr val="000000"/>
                </a:solidFill>
                <a:latin typeface="Poppins Bold"/>
                <a:ea typeface="Poppins Bold"/>
                <a:cs typeface="Poppins Bold"/>
                <a:sym typeface="Poppins Bold"/>
              </a:rPr>
              <a:t>MODEL RESULTS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6050010" y="415609"/>
            <a:ext cx="6187980" cy="1362071"/>
          </a:xfrm>
          <a:prstGeom prst="rect">
            <a:avLst/>
          </a:prstGeom>
        </p:spPr>
        <p:txBody>
          <a:bodyPr anchor="t" rtlCol="false" tIns="0" lIns="0" bIns="0" rIns="0">
            <a:spAutoFit/>
          </a:bodyPr>
          <a:lstStyle/>
          <a:p>
            <a:pPr algn="just">
              <a:lnSpc>
                <a:spcPts val="10500"/>
              </a:lnSpc>
              <a:spcBef>
                <a:spcPct val="0"/>
              </a:spcBef>
            </a:pPr>
            <a:r>
              <a:rPr lang="en-US" b="true" sz="7500">
                <a:solidFill>
                  <a:srgbClr val="000000"/>
                </a:solidFill>
                <a:latin typeface="Poppins Bold"/>
                <a:ea typeface="Poppins Bold"/>
                <a:cs typeface="Poppins Bold"/>
                <a:sym typeface="Poppins Bold"/>
              </a:rPr>
              <a:t>CHALLENGES</a:t>
            </a:r>
          </a:p>
        </p:txBody>
      </p:sp>
      <p:sp>
        <p:nvSpPr>
          <p:cNvPr name="Freeform 4" id="4"/>
          <p:cNvSpPr/>
          <p:nvPr/>
        </p:nvSpPr>
        <p:spPr>
          <a:xfrm flipH="false" flipV="false" rot="-10800000">
            <a:off x="14722993" y="-442370"/>
            <a:ext cx="3861908" cy="3297104"/>
          </a:xfrm>
          <a:custGeom>
            <a:avLst/>
            <a:gdLst/>
            <a:ahLst/>
            <a:cxnLst/>
            <a:rect r="r" b="b" t="t" l="l"/>
            <a:pathLst>
              <a:path h="3297104" w="3861908">
                <a:moveTo>
                  <a:pt x="0" y="0"/>
                </a:moveTo>
                <a:lnTo>
                  <a:pt x="3861908" y="0"/>
                </a:lnTo>
                <a:lnTo>
                  <a:pt x="3861908" y="3297104"/>
                </a:lnTo>
                <a:lnTo>
                  <a:pt x="0" y="32971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0" y="7008946"/>
            <a:ext cx="3861908" cy="3297104"/>
          </a:xfrm>
          <a:custGeom>
            <a:avLst/>
            <a:gdLst/>
            <a:ahLst/>
            <a:cxnLst/>
            <a:rect r="r" b="b" t="t" l="l"/>
            <a:pathLst>
              <a:path h="3297104" w="3861908">
                <a:moveTo>
                  <a:pt x="0" y="0"/>
                </a:moveTo>
                <a:lnTo>
                  <a:pt x="3861908" y="0"/>
                </a:lnTo>
                <a:lnTo>
                  <a:pt x="3861908" y="3297104"/>
                </a:lnTo>
                <a:lnTo>
                  <a:pt x="0" y="32971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6801181" y="2465068"/>
            <a:ext cx="11082283" cy="7097700"/>
          </a:xfrm>
          <a:prstGeom prst="rect">
            <a:avLst/>
          </a:prstGeom>
        </p:spPr>
        <p:txBody>
          <a:bodyPr anchor="t" rtlCol="false" tIns="0" lIns="0" bIns="0" rIns="0">
            <a:spAutoFit/>
          </a:bodyPr>
          <a:lstStyle/>
          <a:p>
            <a:pPr algn="just">
              <a:lnSpc>
                <a:spcPts val="3358"/>
              </a:lnSpc>
              <a:spcBef>
                <a:spcPct val="0"/>
              </a:spcBef>
            </a:pPr>
            <a:r>
              <a:rPr lang="en-US" sz="2398">
                <a:solidFill>
                  <a:srgbClr val="000000"/>
                </a:solidFill>
                <a:latin typeface="Nunito"/>
                <a:ea typeface="Nunito"/>
                <a:cs typeface="Nunito"/>
                <a:sym typeface="Nunito"/>
              </a:rPr>
              <a:t>•</a:t>
            </a:r>
            <a:r>
              <a:rPr lang="en-US" sz="2398">
                <a:solidFill>
                  <a:srgbClr val="000000"/>
                </a:solidFill>
                <a:latin typeface="Nunito"/>
                <a:ea typeface="Nunito"/>
                <a:cs typeface="Nunito"/>
                <a:sym typeface="Nunito"/>
              </a:rPr>
              <a:t> Our initial dataset achieved 100% accuracy due to data leakage caused by fixed labeling rules.</a:t>
            </a:r>
          </a:p>
          <a:p>
            <a:pPr algn="just">
              <a:lnSpc>
                <a:spcPts val="3358"/>
              </a:lnSpc>
              <a:spcBef>
                <a:spcPct val="0"/>
              </a:spcBef>
            </a:pPr>
          </a:p>
          <a:p>
            <a:pPr algn="just">
              <a:lnSpc>
                <a:spcPts val="3358"/>
              </a:lnSpc>
              <a:spcBef>
                <a:spcPct val="0"/>
              </a:spcBef>
            </a:pPr>
            <a:r>
              <a:rPr lang="en-US" sz="2398">
                <a:solidFill>
                  <a:srgbClr val="000000"/>
                </a:solidFill>
                <a:latin typeface="Nunito"/>
                <a:ea typeface="Nunito"/>
                <a:cs typeface="Nunito"/>
                <a:sym typeface="Nunito"/>
              </a:rPr>
              <a:t>• We redesigned the dataset with overlapping feature ranges, label noise, and increased it to 300 samples.</a:t>
            </a:r>
          </a:p>
          <a:p>
            <a:pPr algn="just">
              <a:lnSpc>
                <a:spcPts val="3358"/>
              </a:lnSpc>
              <a:spcBef>
                <a:spcPct val="0"/>
              </a:spcBef>
            </a:pPr>
          </a:p>
          <a:p>
            <a:pPr algn="just">
              <a:lnSpc>
                <a:spcPts val="3358"/>
              </a:lnSpc>
              <a:spcBef>
                <a:spcPct val="0"/>
              </a:spcBef>
            </a:pPr>
            <a:r>
              <a:rPr lang="en-US" sz="2398">
                <a:solidFill>
                  <a:srgbClr val="000000"/>
                </a:solidFill>
                <a:latin typeface="Nunito"/>
                <a:ea typeface="Nunito"/>
                <a:cs typeface="Nunito"/>
                <a:sym typeface="Nunito"/>
              </a:rPr>
              <a:t>• We implemented a 70/15/15 stratified split and 5-Fold Cross Validation for more reliable evaluation.</a:t>
            </a:r>
          </a:p>
          <a:p>
            <a:pPr algn="just">
              <a:lnSpc>
                <a:spcPts val="3358"/>
              </a:lnSpc>
              <a:spcBef>
                <a:spcPct val="0"/>
              </a:spcBef>
            </a:pPr>
          </a:p>
          <a:p>
            <a:pPr algn="just">
              <a:lnSpc>
                <a:spcPts val="3358"/>
              </a:lnSpc>
              <a:spcBef>
                <a:spcPct val="0"/>
              </a:spcBef>
            </a:pPr>
            <a:r>
              <a:rPr lang="en-US" sz="2398">
                <a:solidFill>
                  <a:srgbClr val="000000"/>
                </a:solidFill>
                <a:latin typeface="Nunito"/>
                <a:ea typeface="Nunito"/>
                <a:cs typeface="Nunito"/>
                <a:sym typeface="Nunito"/>
              </a:rPr>
              <a:t>• Final results were 86.67% CV Accuracy, 88.89% Validation Accuracy, and 91.11% Test Accuracy.</a:t>
            </a:r>
          </a:p>
          <a:p>
            <a:pPr algn="just">
              <a:lnSpc>
                <a:spcPts val="3358"/>
              </a:lnSpc>
              <a:spcBef>
                <a:spcPct val="0"/>
              </a:spcBef>
            </a:pPr>
          </a:p>
          <a:p>
            <a:pPr algn="just">
              <a:lnSpc>
                <a:spcPts val="3358"/>
              </a:lnSpc>
              <a:spcBef>
                <a:spcPct val="0"/>
              </a:spcBef>
            </a:pPr>
            <a:r>
              <a:rPr lang="en-US" sz="2398">
                <a:solidFill>
                  <a:srgbClr val="000000"/>
                </a:solidFill>
                <a:latin typeface="Nunito"/>
                <a:ea typeface="Nunito"/>
                <a:cs typeface="Nunito"/>
                <a:sym typeface="Nunito"/>
              </a:rPr>
              <a:t>• We also resolved frontend-model integration issues, encoding inconsistencies, and Git/Supabase connectivity problems.</a:t>
            </a:r>
          </a:p>
          <a:p>
            <a:pPr algn="just">
              <a:lnSpc>
                <a:spcPts val="3358"/>
              </a:lnSpc>
              <a:spcBef>
                <a:spcPct val="0"/>
              </a:spcBef>
            </a:pPr>
          </a:p>
          <a:p>
            <a:pPr algn="just">
              <a:lnSpc>
                <a:spcPts val="3358"/>
              </a:lnSpc>
              <a:spcBef>
                <a:spcPct val="0"/>
              </a:spcBef>
            </a:pPr>
            <a:r>
              <a:rPr lang="en-US" sz="2398">
                <a:solidFill>
                  <a:srgbClr val="000000"/>
                </a:solidFill>
                <a:latin typeface="Nunito"/>
                <a:ea typeface="Nunito"/>
                <a:cs typeface="Nunito"/>
                <a:sym typeface="Nunito"/>
              </a:rPr>
              <a:t>• Finally, we resolved Git synchronization issues and Supabase connectivity problems during development.</a:t>
            </a:r>
          </a:p>
        </p:txBody>
      </p:sp>
      <p:sp>
        <p:nvSpPr>
          <p:cNvPr name="Freeform 7" id="7"/>
          <p:cNvSpPr/>
          <p:nvPr/>
        </p:nvSpPr>
        <p:spPr>
          <a:xfrm flipH="false" flipV="false" rot="0">
            <a:off x="767016" y="2068244"/>
            <a:ext cx="5282994" cy="7929447"/>
          </a:xfrm>
          <a:custGeom>
            <a:avLst/>
            <a:gdLst/>
            <a:ahLst/>
            <a:cxnLst/>
            <a:rect r="r" b="b" t="t" l="l"/>
            <a:pathLst>
              <a:path h="7929447" w="5282994">
                <a:moveTo>
                  <a:pt x="0" y="0"/>
                </a:moveTo>
                <a:lnTo>
                  <a:pt x="5282994" y="0"/>
                </a:lnTo>
                <a:lnTo>
                  <a:pt x="5282994" y="7929447"/>
                </a:lnTo>
                <a:lnTo>
                  <a:pt x="0" y="792944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9476235" y="544770"/>
            <a:ext cx="7783065" cy="2695571"/>
          </a:xfrm>
          <a:prstGeom prst="rect">
            <a:avLst/>
          </a:prstGeom>
        </p:spPr>
        <p:txBody>
          <a:bodyPr anchor="t" rtlCol="false" tIns="0" lIns="0" bIns="0" rIns="0">
            <a:spAutoFit/>
          </a:bodyPr>
          <a:lstStyle/>
          <a:p>
            <a:pPr algn="just">
              <a:lnSpc>
                <a:spcPts val="10500"/>
              </a:lnSpc>
              <a:spcBef>
                <a:spcPct val="0"/>
              </a:spcBef>
            </a:pPr>
            <a:r>
              <a:rPr lang="en-US" b="true" sz="7500">
                <a:solidFill>
                  <a:srgbClr val="000000"/>
                </a:solidFill>
                <a:latin typeface="Poppins Bold"/>
                <a:ea typeface="Poppins Bold"/>
                <a:cs typeface="Poppins Bold"/>
                <a:sym typeface="Poppins Bold"/>
              </a:rPr>
              <a:t>FUTURE IMPROV</a:t>
            </a:r>
            <a:r>
              <a:rPr lang="en-US" b="true" sz="7500">
                <a:solidFill>
                  <a:srgbClr val="000000"/>
                </a:solidFill>
                <a:latin typeface="Poppins Bold"/>
                <a:ea typeface="Poppins Bold"/>
                <a:cs typeface="Poppins Bold"/>
                <a:sym typeface="Poppins Bold"/>
              </a:rPr>
              <a:t>EMENTS</a:t>
            </a:r>
          </a:p>
        </p:txBody>
      </p:sp>
      <p:sp>
        <p:nvSpPr>
          <p:cNvPr name="Freeform 4" id="4"/>
          <p:cNvSpPr/>
          <p:nvPr/>
        </p:nvSpPr>
        <p:spPr>
          <a:xfrm flipH="false" flipV="false" rot="-10800000">
            <a:off x="14722993" y="-442370"/>
            <a:ext cx="3861908" cy="3297104"/>
          </a:xfrm>
          <a:custGeom>
            <a:avLst/>
            <a:gdLst/>
            <a:ahLst/>
            <a:cxnLst/>
            <a:rect r="r" b="b" t="t" l="l"/>
            <a:pathLst>
              <a:path h="3297104" w="3861908">
                <a:moveTo>
                  <a:pt x="0" y="0"/>
                </a:moveTo>
                <a:lnTo>
                  <a:pt x="3861908" y="0"/>
                </a:lnTo>
                <a:lnTo>
                  <a:pt x="3861908" y="3297104"/>
                </a:lnTo>
                <a:lnTo>
                  <a:pt x="0" y="32971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0" y="7008946"/>
            <a:ext cx="3861908" cy="3297104"/>
          </a:xfrm>
          <a:custGeom>
            <a:avLst/>
            <a:gdLst/>
            <a:ahLst/>
            <a:cxnLst/>
            <a:rect r="r" b="b" t="t" l="l"/>
            <a:pathLst>
              <a:path h="3297104" w="3861908">
                <a:moveTo>
                  <a:pt x="0" y="0"/>
                </a:moveTo>
                <a:lnTo>
                  <a:pt x="3861908" y="0"/>
                </a:lnTo>
                <a:lnTo>
                  <a:pt x="3861908" y="3297104"/>
                </a:lnTo>
                <a:lnTo>
                  <a:pt x="0" y="32971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705060" y="763845"/>
            <a:ext cx="8014785" cy="2033429"/>
            <a:chOff x="0" y="0"/>
            <a:chExt cx="2287438" cy="580345"/>
          </a:xfrm>
        </p:grpSpPr>
        <p:sp>
          <p:nvSpPr>
            <p:cNvPr name="Freeform 7" id="7"/>
            <p:cNvSpPr/>
            <p:nvPr/>
          </p:nvSpPr>
          <p:spPr>
            <a:xfrm flipH="false" flipV="false" rot="0">
              <a:off x="0" y="0"/>
              <a:ext cx="2287438" cy="580345"/>
            </a:xfrm>
            <a:custGeom>
              <a:avLst/>
              <a:gdLst/>
              <a:ahLst/>
              <a:cxnLst/>
              <a:rect r="r" b="b" t="t" l="l"/>
              <a:pathLst>
                <a:path h="580345" w="2287438">
                  <a:moveTo>
                    <a:pt x="24149" y="0"/>
                  </a:moveTo>
                  <a:lnTo>
                    <a:pt x="2263289" y="0"/>
                  </a:lnTo>
                  <a:cubicBezTo>
                    <a:pt x="2269693" y="0"/>
                    <a:pt x="2275836" y="2544"/>
                    <a:pt x="2280365" y="7073"/>
                  </a:cubicBezTo>
                  <a:cubicBezTo>
                    <a:pt x="2284893" y="11602"/>
                    <a:pt x="2287438" y="17744"/>
                    <a:pt x="2287438" y="24149"/>
                  </a:cubicBezTo>
                  <a:lnTo>
                    <a:pt x="2287438" y="556196"/>
                  </a:lnTo>
                  <a:cubicBezTo>
                    <a:pt x="2287438" y="562601"/>
                    <a:pt x="2284893" y="568743"/>
                    <a:pt x="2280365" y="573272"/>
                  </a:cubicBezTo>
                  <a:cubicBezTo>
                    <a:pt x="2275836" y="577801"/>
                    <a:pt x="2269693" y="580345"/>
                    <a:pt x="2263289" y="580345"/>
                  </a:cubicBezTo>
                  <a:lnTo>
                    <a:pt x="24149" y="580345"/>
                  </a:lnTo>
                  <a:cubicBezTo>
                    <a:pt x="17744" y="580345"/>
                    <a:pt x="11602" y="577801"/>
                    <a:pt x="7073" y="573272"/>
                  </a:cubicBezTo>
                  <a:cubicBezTo>
                    <a:pt x="2544" y="568743"/>
                    <a:pt x="0" y="562601"/>
                    <a:pt x="0" y="556196"/>
                  </a:cubicBezTo>
                  <a:lnTo>
                    <a:pt x="0" y="24149"/>
                  </a:lnTo>
                  <a:cubicBezTo>
                    <a:pt x="0" y="17744"/>
                    <a:pt x="2544" y="11602"/>
                    <a:pt x="7073" y="7073"/>
                  </a:cubicBezTo>
                  <a:cubicBezTo>
                    <a:pt x="11602" y="2544"/>
                    <a:pt x="17744" y="0"/>
                    <a:pt x="24149" y="0"/>
                  </a:cubicBezTo>
                  <a:close/>
                </a:path>
              </a:pathLst>
            </a:custGeom>
            <a:solidFill>
              <a:srgbClr val="00357B"/>
            </a:solidFill>
          </p:spPr>
        </p:sp>
        <p:sp>
          <p:nvSpPr>
            <p:cNvPr name="TextBox 8" id="8"/>
            <p:cNvSpPr txBox="true"/>
            <p:nvPr/>
          </p:nvSpPr>
          <p:spPr>
            <a:xfrm>
              <a:off x="0" y="-9525"/>
              <a:ext cx="2287438" cy="589870"/>
            </a:xfrm>
            <a:prstGeom prst="rect">
              <a:avLst/>
            </a:prstGeom>
          </p:spPr>
          <p:txBody>
            <a:bodyPr anchor="ctr" rtlCol="false" tIns="50800" lIns="50800" bIns="50800" rIns="50800"/>
            <a:lstStyle/>
            <a:p>
              <a:pPr algn="ctr">
                <a:lnSpc>
                  <a:spcPts val="1980"/>
                </a:lnSpc>
              </a:pPr>
            </a:p>
          </p:txBody>
        </p:sp>
      </p:grpSp>
      <p:sp>
        <p:nvSpPr>
          <p:cNvPr name="Freeform 9" id="9"/>
          <p:cNvSpPr/>
          <p:nvPr/>
        </p:nvSpPr>
        <p:spPr>
          <a:xfrm flipH="false" flipV="false" rot="0">
            <a:off x="9795105" y="3492497"/>
            <a:ext cx="8492895" cy="7080952"/>
          </a:xfrm>
          <a:custGeom>
            <a:avLst/>
            <a:gdLst/>
            <a:ahLst/>
            <a:cxnLst/>
            <a:rect r="r" b="b" t="t" l="l"/>
            <a:pathLst>
              <a:path h="7080952" w="8492895">
                <a:moveTo>
                  <a:pt x="0" y="0"/>
                </a:moveTo>
                <a:lnTo>
                  <a:pt x="8492895" y="0"/>
                </a:lnTo>
                <a:lnTo>
                  <a:pt x="8492895" y="7080951"/>
                </a:lnTo>
                <a:lnTo>
                  <a:pt x="0" y="70809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898117" y="964339"/>
            <a:ext cx="242179" cy="243091"/>
          </a:xfrm>
          <a:custGeom>
            <a:avLst/>
            <a:gdLst/>
            <a:ahLst/>
            <a:cxnLst/>
            <a:rect r="r" b="b" t="t" l="l"/>
            <a:pathLst>
              <a:path h="243091" w="242179">
                <a:moveTo>
                  <a:pt x="0" y="0"/>
                </a:moveTo>
                <a:lnTo>
                  <a:pt x="242180" y="0"/>
                </a:lnTo>
                <a:lnTo>
                  <a:pt x="242180" y="243091"/>
                </a:lnTo>
                <a:lnTo>
                  <a:pt x="0" y="24309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1" id="11"/>
          <p:cNvGrpSpPr/>
          <p:nvPr/>
        </p:nvGrpSpPr>
        <p:grpSpPr>
          <a:xfrm rot="0">
            <a:off x="705060" y="3056932"/>
            <a:ext cx="8014785" cy="2176636"/>
            <a:chOff x="0" y="0"/>
            <a:chExt cx="2287438" cy="621217"/>
          </a:xfrm>
        </p:grpSpPr>
        <p:sp>
          <p:nvSpPr>
            <p:cNvPr name="Freeform 12" id="12"/>
            <p:cNvSpPr/>
            <p:nvPr/>
          </p:nvSpPr>
          <p:spPr>
            <a:xfrm flipH="false" flipV="false" rot="0">
              <a:off x="0" y="0"/>
              <a:ext cx="2287438" cy="621217"/>
            </a:xfrm>
            <a:custGeom>
              <a:avLst/>
              <a:gdLst/>
              <a:ahLst/>
              <a:cxnLst/>
              <a:rect r="r" b="b" t="t" l="l"/>
              <a:pathLst>
                <a:path h="621217" w="2287438">
                  <a:moveTo>
                    <a:pt x="24149" y="0"/>
                  </a:moveTo>
                  <a:lnTo>
                    <a:pt x="2263289" y="0"/>
                  </a:lnTo>
                  <a:cubicBezTo>
                    <a:pt x="2269693" y="0"/>
                    <a:pt x="2275836" y="2544"/>
                    <a:pt x="2280365" y="7073"/>
                  </a:cubicBezTo>
                  <a:cubicBezTo>
                    <a:pt x="2284893" y="11602"/>
                    <a:pt x="2287438" y="17744"/>
                    <a:pt x="2287438" y="24149"/>
                  </a:cubicBezTo>
                  <a:lnTo>
                    <a:pt x="2287438" y="597068"/>
                  </a:lnTo>
                  <a:cubicBezTo>
                    <a:pt x="2287438" y="603473"/>
                    <a:pt x="2284893" y="609615"/>
                    <a:pt x="2280365" y="614144"/>
                  </a:cubicBezTo>
                  <a:cubicBezTo>
                    <a:pt x="2275836" y="618673"/>
                    <a:pt x="2269693" y="621217"/>
                    <a:pt x="2263289" y="621217"/>
                  </a:cubicBezTo>
                  <a:lnTo>
                    <a:pt x="24149" y="621217"/>
                  </a:lnTo>
                  <a:cubicBezTo>
                    <a:pt x="17744" y="621217"/>
                    <a:pt x="11602" y="618673"/>
                    <a:pt x="7073" y="614144"/>
                  </a:cubicBezTo>
                  <a:cubicBezTo>
                    <a:pt x="2544" y="609615"/>
                    <a:pt x="0" y="603473"/>
                    <a:pt x="0" y="597068"/>
                  </a:cubicBezTo>
                  <a:lnTo>
                    <a:pt x="0" y="24149"/>
                  </a:lnTo>
                  <a:cubicBezTo>
                    <a:pt x="0" y="17744"/>
                    <a:pt x="2544" y="11602"/>
                    <a:pt x="7073" y="7073"/>
                  </a:cubicBezTo>
                  <a:cubicBezTo>
                    <a:pt x="11602" y="2544"/>
                    <a:pt x="17744" y="0"/>
                    <a:pt x="24149" y="0"/>
                  </a:cubicBezTo>
                  <a:close/>
                </a:path>
              </a:pathLst>
            </a:custGeom>
            <a:solidFill>
              <a:srgbClr val="00357B"/>
            </a:solidFill>
          </p:spPr>
        </p:sp>
        <p:sp>
          <p:nvSpPr>
            <p:cNvPr name="TextBox 13" id="13"/>
            <p:cNvSpPr txBox="true"/>
            <p:nvPr/>
          </p:nvSpPr>
          <p:spPr>
            <a:xfrm>
              <a:off x="0" y="-9525"/>
              <a:ext cx="2287438" cy="630742"/>
            </a:xfrm>
            <a:prstGeom prst="rect">
              <a:avLst/>
            </a:prstGeom>
          </p:spPr>
          <p:txBody>
            <a:bodyPr anchor="ctr" rtlCol="false" tIns="50800" lIns="50800" bIns="50800" rIns="50800"/>
            <a:lstStyle/>
            <a:p>
              <a:pPr algn="ctr">
                <a:lnSpc>
                  <a:spcPts val="1980"/>
                </a:lnSpc>
              </a:pPr>
            </a:p>
          </p:txBody>
        </p:sp>
      </p:grpSp>
      <p:sp>
        <p:nvSpPr>
          <p:cNvPr name="Freeform 14" id="14"/>
          <p:cNvSpPr/>
          <p:nvPr/>
        </p:nvSpPr>
        <p:spPr>
          <a:xfrm flipH="false" flipV="false" rot="0">
            <a:off x="898117" y="3257427"/>
            <a:ext cx="242179" cy="243091"/>
          </a:xfrm>
          <a:custGeom>
            <a:avLst/>
            <a:gdLst/>
            <a:ahLst/>
            <a:cxnLst/>
            <a:rect r="r" b="b" t="t" l="l"/>
            <a:pathLst>
              <a:path h="243091" w="242179">
                <a:moveTo>
                  <a:pt x="0" y="0"/>
                </a:moveTo>
                <a:lnTo>
                  <a:pt x="242180" y="0"/>
                </a:lnTo>
                <a:lnTo>
                  <a:pt x="242180" y="243090"/>
                </a:lnTo>
                <a:lnTo>
                  <a:pt x="0" y="24309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5" id="15"/>
          <p:cNvGrpSpPr/>
          <p:nvPr/>
        </p:nvGrpSpPr>
        <p:grpSpPr>
          <a:xfrm rot="0">
            <a:off x="705060" y="5515921"/>
            <a:ext cx="8014785" cy="2176636"/>
            <a:chOff x="0" y="0"/>
            <a:chExt cx="2287438" cy="621217"/>
          </a:xfrm>
        </p:grpSpPr>
        <p:sp>
          <p:nvSpPr>
            <p:cNvPr name="Freeform 16" id="16"/>
            <p:cNvSpPr/>
            <p:nvPr/>
          </p:nvSpPr>
          <p:spPr>
            <a:xfrm flipH="false" flipV="false" rot="0">
              <a:off x="0" y="0"/>
              <a:ext cx="2287438" cy="621217"/>
            </a:xfrm>
            <a:custGeom>
              <a:avLst/>
              <a:gdLst/>
              <a:ahLst/>
              <a:cxnLst/>
              <a:rect r="r" b="b" t="t" l="l"/>
              <a:pathLst>
                <a:path h="621217" w="2287438">
                  <a:moveTo>
                    <a:pt x="24149" y="0"/>
                  </a:moveTo>
                  <a:lnTo>
                    <a:pt x="2263289" y="0"/>
                  </a:lnTo>
                  <a:cubicBezTo>
                    <a:pt x="2269693" y="0"/>
                    <a:pt x="2275836" y="2544"/>
                    <a:pt x="2280365" y="7073"/>
                  </a:cubicBezTo>
                  <a:cubicBezTo>
                    <a:pt x="2284893" y="11602"/>
                    <a:pt x="2287438" y="17744"/>
                    <a:pt x="2287438" y="24149"/>
                  </a:cubicBezTo>
                  <a:lnTo>
                    <a:pt x="2287438" y="597068"/>
                  </a:lnTo>
                  <a:cubicBezTo>
                    <a:pt x="2287438" y="603473"/>
                    <a:pt x="2284893" y="609615"/>
                    <a:pt x="2280365" y="614144"/>
                  </a:cubicBezTo>
                  <a:cubicBezTo>
                    <a:pt x="2275836" y="618673"/>
                    <a:pt x="2269693" y="621217"/>
                    <a:pt x="2263289" y="621217"/>
                  </a:cubicBezTo>
                  <a:lnTo>
                    <a:pt x="24149" y="621217"/>
                  </a:lnTo>
                  <a:cubicBezTo>
                    <a:pt x="17744" y="621217"/>
                    <a:pt x="11602" y="618673"/>
                    <a:pt x="7073" y="614144"/>
                  </a:cubicBezTo>
                  <a:cubicBezTo>
                    <a:pt x="2544" y="609615"/>
                    <a:pt x="0" y="603473"/>
                    <a:pt x="0" y="597068"/>
                  </a:cubicBezTo>
                  <a:lnTo>
                    <a:pt x="0" y="24149"/>
                  </a:lnTo>
                  <a:cubicBezTo>
                    <a:pt x="0" y="17744"/>
                    <a:pt x="2544" y="11602"/>
                    <a:pt x="7073" y="7073"/>
                  </a:cubicBezTo>
                  <a:cubicBezTo>
                    <a:pt x="11602" y="2544"/>
                    <a:pt x="17744" y="0"/>
                    <a:pt x="24149" y="0"/>
                  </a:cubicBezTo>
                  <a:close/>
                </a:path>
              </a:pathLst>
            </a:custGeom>
            <a:solidFill>
              <a:srgbClr val="00357B"/>
            </a:solidFill>
          </p:spPr>
        </p:sp>
        <p:sp>
          <p:nvSpPr>
            <p:cNvPr name="TextBox 17" id="17"/>
            <p:cNvSpPr txBox="true"/>
            <p:nvPr/>
          </p:nvSpPr>
          <p:spPr>
            <a:xfrm>
              <a:off x="0" y="-9525"/>
              <a:ext cx="2287438" cy="630742"/>
            </a:xfrm>
            <a:prstGeom prst="rect">
              <a:avLst/>
            </a:prstGeom>
          </p:spPr>
          <p:txBody>
            <a:bodyPr anchor="ctr" rtlCol="false" tIns="50800" lIns="50800" bIns="50800" rIns="50800"/>
            <a:lstStyle/>
            <a:p>
              <a:pPr algn="ctr">
                <a:lnSpc>
                  <a:spcPts val="1980"/>
                </a:lnSpc>
              </a:pPr>
            </a:p>
          </p:txBody>
        </p:sp>
      </p:grpSp>
      <p:sp>
        <p:nvSpPr>
          <p:cNvPr name="Freeform 18" id="18"/>
          <p:cNvSpPr/>
          <p:nvPr/>
        </p:nvSpPr>
        <p:spPr>
          <a:xfrm flipH="false" flipV="false" rot="0">
            <a:off x="898117" y="5716416"/>
            <a:ext cx="242179" cy="243091"/>
          </a:xfrm>
          <a:custGeom>
            <a:avLst/>
            <a:gdLst/>
            <a:ahLst/>
            <a:cxnLst/>
            <a:rect r="r" b="b" t="t" l="l"/>
            <a:pathLst>
              <a:path h="243091" w="242179">
                <a:moveTo>
                  <a:pt x="0" y="0"/>
                </a:moveTo>
                <a:lnTo>
                  <a:pt x="242180" y="0"/>
                </a:lnTo>
                <a:lnTo>
                  <a:pt x="242180" y="243091"/>
                </a:lnTo>
                <a:lnTo>
                  <a:pt x="0" y="24309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9" id="19"/>
          <p:cNvGrpSpPr/>
          <p:nvPr/>
        </p:nvGrpSpPr>
        <p:grpSpPr>
          <a:xfrm rot="0">
            <a:off x="705060" y="7845509"/>
            <a:ext cx="8014785" cy="2176636"/>
            <a:chOff x="0" y="0"/>
            <a:chExt cx="2287438" cy="621217"/>
          </a:xfrm>
        </p:grpSpPr>
        <p:sp>
          <p:nvSpPr>
            <p:cNvPr name="Freeform 20" id="20"/>
            <p:cNvSpPr/>
            <p:nvPr/>
          </p:nvSpPr>
          <p:spPr>
            <a:xfrm flipH="false" flipV="false" rot="0">
              <a:off x="0" y="0"/>
              <a:ext cx="2287438" cy="621217"/>
            </a:xfrm>
            <a:custGeom>
              <a:avLst/>
              <a:gdLst/>
              <a:ahLst/>
              <a:cxnLst/>
              <a:rect r="r" b="b" t="t" l="l"/>
              <a:pathLst>
                <a:path h="621217" w="2287438">
                  <a:moveTo>
                    <a:pt x="24149" y="0"/>
                  </a:moveTo>
                  <a:lnTo>
                    <a:pt x="2263289" y="0"/>
                  </a:lnTo>
                  <a:cubicBezTo>
                    <a:pt x="2269693" y="0"/>
                    <a:pt x="2275836" y="2544"/>
                    <a:pt x="2280365" y="7073"/>
                  </a:cubicBezTo>
                  <a:cubicBezTo>
                    <a:pt x="2284893" y="11602"/>
                    <a:pt x="2287438" y="17744"/>
                    <a:pt x="2287438" y="24149"/>
                  </a:cubicBezTo>
                  <a:lnTo>
                    <a:pt x="2287438" y="597068"/>
                  </a:lnTo>
                  <a:cubicBezTo>
                    <a:pt x="2287438" y="603473"/>
                    <a:pt x="2284893" y="609615"/>
                    <a:pt x="2280365" y="614144"/>
                  </a:cubicBezTo>
                  <a:cubicBezTo>
                    <a:pt x="2275836" y="618673"/>
                    <a:pt x="2269693" y="621217"/>
                    <a:pt x="2263289" y="621217"/>
                  </a:cubicBezTo>
                  <a:lnTo>
                    <a:pt x="24149" y="621217"/>
                  </a:lnTo>
                  <a:cubicBezTo>
                    <a:pt x="17744" y="621217"/>
                    <a:pt x="11602" y="618673"/>
                    <a:pt x="7073" y="614144"/>
                  </a:cubicBezTo>
                  <a:cubicBezTo>
                    <a:pt x="2544" y="609615"/>
                    <a:pt x="0" y="603473"/>
                    <a:pt x="0" y="597068"/>
                  </a:cubicBezTo>
                  <a:lnTo>
                    <a:pt x="0" y="24149"/>
                  </a:lnTo>
                  <a:cubicBezTo>
                    <a:pt x="0" y="17744"/>
                    <a:pt x="2544" y="11602"/>
                    <a:pt x="7073" y="7073"/>
                  </a:cubicBezTo>
                  <a:cubicBezTo>
                    <a:pt x="11602" y="2544"/>
                    <a:pt x="17744" y="0"/>
                    <a:pt x="24149" y="0"/>
                  </a:cubicBezTo>
                  <a:close/>
                </a:path>
              </a:pathLst>
            </a:custGeom>
            <a:solidFill>
              <a:srgbClr val="00357B"/>
            </a:solidFill>
          </p:spPr>
        </p:sp>
        <p:sp>
          <p:nvSpPr>
            <p:cNvPr name="TextBox 21" id="21"/>
            <p:cNvSpPr txBox="true"/>
            <p:nvPr/>
          </p:nvSpPr>
          <p:spPr>
            <a:xfrm>
              <a:off x="0" y="-9525"/>
              <a:ext cx="2287438" cy="630742"/>
            </a:xfrm>
            <a:prstGeom prst="rect">
              <a:avLst/>
            </a:prstGeom>
          </p:spPr>
          <p:txBody>
            <a:bodyPr anchor="ctr" rtlCol="false" tIns="50800" lIns="50800" bIns="50800" rIns="50800"/>
            <a:lstStyle/>
            <a:p>
              <a:pPr algn="ctr">
                <a:lnSpc>
                  <a:spcPts val="1980"/>
                </a:lnSpc>
              </a:pPr>
            </a:p>
          </p:txBody>
        </p:sp>
      </p:grpSp>
      <p:sp>
        <p:nvSpPr>
          <p:cNvPr name="Freeform 22" id="22"/>
          <p:cNvSpPr/>
          <p:nvPr/>
        </p:nvSpPr>
        <p:spPr>
          <a:xfrm flipH="false" flipV="false" rot="0">
            <a:off x="898117" y="8046003"/>
            <a:ext cx="242179" cy="243091"/>
          </a:xfrm>
          <a:custGeom>
            <a:avLst/>
            <a:gdLst/>
            <a:ahLst/>
            <a:cxnLst/>
            <a:rect r="r" b="b" t="t" l="l"/>
            <a:pathLst>
              <a:path h="243091" w="242179">
                <a:moveTo>
                  <a:pt x="0" y="0"/>
                </a:moveTo>
                <a:lnTo>
                  <a:pt x="242180" y="0"/>
                </a:lnTo>
                <a:lnTo>
                  <a:pt x="242180" y="243091"/>
                </a:lnTo>
                <a:lnTo>
                  <a:pt x="0" y="24309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3" id="23"/>
          <p:cNvSpPr txBox="true"/>
          <p:nvPr/>
        </p:nvSpPr>
        <p:spPr>
          <a:xfrm rot="0">
            <a:off x="1293462" y="895904"/>
            <a:ext cx="3528895" cy="341862"/>
          </a:xfrm>
          <a:prstGeom prst="rect">
            <a:avLst/>
          </a:prstGeom>
        </p:spPr>
        <p:txBody>
          <a:bodyPr anchor="t" rtlCol="false" tIns="0" lIns="0" bIns="0" rIns="0">
            <a:spAutoFit/>
          </a:bodyPr>
          <a:lstStyle/>
          <a:p>
            <a:pPr algn="just">
              <a:lnSpc>
                <a:spcPts val="2837"/>
              </a:lnSpc>
              <a:spcBef>
                <a:spcPct val="0"/>
              </a:spcBef>
            </a:pPr>
            <a:r>
              <a:rPr lang="en-US" b="true" sz="2026">
                <a:solidFill>
                  <a:srgbClr val="FFFFFF"/>
                </a:solidFill>
                <a:latin typeface="Nunito Bold"/>
                <a:ea typeface="Nunito Bold"/>
                <a:cs typeface="Nunito Bold"/>
                <a:sym typeface="Nunito Bold"/>
              </a:rPr>
              <a:t>AI PDF &amp; Document Analysis</a:t>
            </a:r>
          </a:p>
        </p:txBody>
      </p:sp>
      <p:sp>
        <p:nvSpPr>
          <p:cNvPr name="TextBox 24" id="24"/>
          <p:cNvSpPr txBox="true"/>
          <p:nvPr/>
        </p:nvSpPr>
        <p:spPr>
          <a:xfrm rot="0">
            <a:off x="1293462" y="1361844"/>
            <a:ext cx="7024733" cy="1321707"/>
          </a:xfrm>
          <a:prstGeom prst="rect">
            <a:avLst/>
          </a:prstGeom>
        </p:spPr>
        <p:txBody>
          <a:bodyPr anchor="t" rtlCol="false" tIns="0" lIns="0" bIns="0" rIns="0">
            <a:spAutoFit/>
          </a:bodyPr>
          <a:lstStyle/>
          <a:p>
            <a:pPr algn="just">
              <a:lnSpc>
                <a:spcPts val="2643"/>
              </a:lnSpc>
              <a:spcBef>
                <a:spcPct val="0"/>
              </a:spcBef>
            </a:pPr>
            <a:r>
              <a:rPr lang="en-US" sz="1888">
                <a:solidFill>
                  <a:srgbClr val="FFFFFF"/>
                </a:solidFill>
                <a:latin typeface="Nunito"/>
                <a:ea typeface="Nunito"/>
                <a:cs typeface="Nunito"/>
                <a:sym typeface="Nunito"/>
              </a:rPr>
              <a:t>Stud</a:t>
            </a:r>
            <a:r>
              <a:rPr lang="en-US" sz="1888">
                <a:solidFill>
                  <a:srgbClr val="FFFFFF"/>
                </a:solidFill>
                <a:latin typeface="Nunito"/>
                <a:ea typeface="Nunito"/>
                <a:cs typeface="Nunito"/>
                <a:sym typeface="Nunito"/>
              </a:rPr>
              <a:t>ents could upload lecture PDFs, assignments, or course materials directly into the system. The AI model could then analyze the documents and detect workload difficulty, deadlines, and important topics automatically.</a:t>
            </a:r>
          </a:p>
        </p:txBody>
      </p:sp>
      <p:sp>
        <p:nvSpPr>
          <p:cNvPr name="TextBox 25" id="25"/>
          <p:cNvSpPr txBox="true"/>
          <p:nvPr/>
        </p:nvSpPr>
        <p:spPr>
          <a:xfrm rot="0">
            <a:off x="1293462" y="3201251"/>
            <a:ext cx="4475029" cy="341862"/>
          </a:xfrm>
          <a:prstGeom prst="rect">
            <a:avLst/>
          </a:prstGeom>
        </p:spPr>
        <p:txBody>
          <a:bodyPr anchor="t" rtlCol="false" tIns="0" lIns="0" bIns="0" rIns="0">
            <a:spAutoFit/>
          </a:bodyPr>
          <a:lstStyle/>
          <a:p>
            <a:pPr algn="just">
              <a:lnSpc>
                <a:spcPts val="2837"/>
              </a:lnSpc>
              <a:spcBef>
                <a:spcPct val="0"/>
              </a:spcBef>
            </a:pPr>
            <a:r>
              <a:rPr lang="en-US" b="true" sz="2026">
                <a:solidFill>
                  <a:srgbClr val="FFFFFF"/>
                </a:solidFill>
                <a:latin typeface="Nunito Bold"/>
                <a:ea typeface="Nunito Bold"/>
                <a:cs typeface="Nunito Bold"/>
                <a:sym typeface="Nunito Bold"/>
              </a:rPr>
              <a:t>Real-Time Analytics &amp; Notifications</a:t>
            </a:r>
          </a:p>
        </p:txBody>
      </p:sp>
      <p:sp>
        <p:nvSpPr>
          <p:cNvPr name="TextBox 26" id="26"/>
          <p:cNvSpPr txBox="true"/>
          <p:nvPr/>
        </p:nvSpPr>
        <p:spPr>
          <a:xfrm rot="0">
            <a:off x="1293462" y="3654323"/>
            <a:ext cx="7024733" cy="1425818"/>
          </a:xfrm>
          <a:prstGeom prst="rect">
            <a:avLst/>
          </a:prstGeom>
        </p:spPr>
        <p:txBody>
          <a:bodyPr anchor="t" rtlCol="false" tIns="0" lIns="0" bIns="0" rIns="0">
            <a:spAutoFit/>
          </a:bodyPr>
          <a:lstStyle/>
          <a:p>
            <a:pPr algn="just">
              <a:lnSpc>
                <a:spcPts val="2856"/>
              </a:lnSpc>
              <a:spcBef>
                <a:spcPct val="0"/>
              </a:spcBef>
            </a:pPr>
            <a:r>
              <a:rPr lang="en-US" sz="2040">
                <a:solidFill>
                  <a:srgbClr val="FFFFFF"/>
                </a:solidFill>
                <a:latin typeface="Nunito"/>
                <a:ea typeface="Nunito"/>
                <a:cs typeface="Nunito"/>
                <a:sym typeface="Nunito"/>
              </a:rPr>
              <a:t>Th</a:t>
            </a:r>
            <a:r>
              <a:rPr lang="en-US" sz="2040">
                <a:solidFill>
                  <a:srgbClr val="FFFFFF"/>
                </a:solidFill>
                <a:latin typeface="Nunito"/>
                <a:ea typeface="Nunito"/>
                <a:cs typeface="Nunito"/>
                <a:sym typeface="Nunito"/>
              </a:rPr>
              <a:t>e system could later include real-time analytics, smart notifications, and deadline reminders to help students manage academic workload more effectively throughout the semester.</a:t>
            </a:r>
          </a:p>
        </p:txBody>
      </p:sp>
      <p:sp>
        <p:nvSpPr>
          <p:cNvPr name="TextBox 27" id="27"/>
          <p:cNvSpPr txBox="true"/>
          <p:nvPr/>
        </p:nvSpPr>
        <p:spPr>
          <a:xfrm rot="0">
            <a:off x="1293462" y="5660240"/>
            <a:ext cx="4475029" cy="341862"/>
          </a:xfrm>
          <a:prstGeom prst="rect">
            <a:avLst/>
          </a:prstGeom>
        </p:spPr>
        <p:txBody>
          <a:bodyPr anchor="t" rtlCol="false" tIns="0" lIns="0" bIns="0" rIns="0">
            <a:spAutoFit/>
          </a:bodyPr>
          <a:lstStyle/>
          <a:p>
            <a:pPr algn="just">
              <a:lnSpc>
                <a:spcPts val="2837"/>
              </a:lnSpc>
              <a:spcBef>
                <a:spcPct val="0"/>
              </a:spcBef>
            </a:pPr>
            <a:r>
              <a:rPr lang="en-US" b="true" sz="2026">
                <a:solidFill>
                  <a:srgbClr val="FFFFFF"/>
                </a:solidFill>
                <a:latin typeface="Nunito Bold"/>
                <a:ea typeface="Nunito Bold"/>
                <a:cs typeface="Nunito Bold"/>
                <a:sym typeface="Nunito Bold"/>
              </a:rPr>
              <a:t>Personalized Student Profiles</a:t>
            </a:r>
          </a:p>
        </p:txBody>
      </p:sp>
      <p:sp>
        <p:nvSpPr>
          <p:cNvPr name="TextBox 28" id="28"/>
          <p:cNvSpPr txBox="true"/>
          <p:nvPr/>
        </p:nvSpPr>
        <p:spPr>
          <a:xfrm rot="0">
            <a:off x="1293462" y="6122838"/>
            <a:ext cx="7024733" cy="1239986"/>
          </a:xfrm>
          <a:prstGeom prst="rect">
            <a:avLst/>
          </a:prstGeom>
        </p:spPr>
        <p:txBody>
          <a:bodyPr anchor="t" rtlCol="false" tIns="0" lIns="0" bIns="0" rIns="0">
            <a:spAutoFit/>
          </a:bodyPr>
          <a:lstStyle/>
          <a:p>
            <a:pPr algn="just">
              <a:lnSpc>
                <a:spcPts val="2529"/>
              </a:lnSpc>
              <a:spcBef>
                <a:spcPct val="0"/>
              </a:spcBef>
            </a:pPr>
            <a:r>
              <a:rPr lang="en-US" sz="1806">
                <a:solidFill>
                  <a:srgbClr val="FFFFFF"/>
                </a:solidFill>
                <a:latin typeface="Nunito"/>
                <a:ea typeface="Nunito"/>
                <a:cs typeface="Nunito"/>
                <a:sym typeface="Nunito"/>
              </a:rPr>
              <a:t>During r</a:t>
            </a:r>
            <a:r>
              <a:rPr lang="en-US" sz="1806">
                <a:solidFill>
                  <a:srgbClr val="FFFFFF"/>
                </a:solidFill>
                <a:latin typeface="Nunito"/>
                <a:ea typeface="Nunito"/>
                <a:cs typeface="Nunito"/>
                <a:sym typeface="Nunito"/>
              </a:rPr>
              <a:t>egistration, students will provide information such as their university, degree program, and current semester. The system will start with a personalized profile and gradually become more accurate as students add more information over time.</a:t>
            </a:r>
          </a:p>
        </p:txBody>
      </p:sp>
      <p:sp>
        <p:nvSpPr>
          <p:cNvPr name="TextBox 29" id="29"/>
          <p:cNvSpPr txBox="true"/>
          <p:nvPr/>
        </p:nvSpPr>
        <p:spPr>
          <a:xfrm rot="0">
            <a:off x="1293462" y="7989828"/>
            <a:ext cx="4475029" cy="341862"/>
          </a:xfrm>
          <a:prstGeom prst="rect">
            <a:avLst/>
          </a:prstGeom>
        </p:spPr>
        <p:txBody>
          <a:bodyPr anchor="t" rtlCol="false" tIns="0" lIns="0" bIns="0" rIns="0">
            <a:spAutoFit/>
          </a:bodyPr>
          <a:lstStyle/>
          <a:p>
            <a:pPr algn="just">
              <a:lnSpc>
                <a:spcPts val="2837"/>
              </a:lnSpc>
              <a:spcBef>
                <a:spcPct val="0"/>
              </a:spcBef>
            </a:pPr>
            <a:r>
              <a:rPr lang="en-US" b="true" sz="2026">
                <a:solidFill>
                  <a:srgbClr val="FFFFFF"/>
                </a:solidFill>
                <a:latin typeface="Nunito Bold"/>
                <a:ea typeface="Nunito Bold"/>
                <a:cs typeface="Nunito Bold"/>
                <a:sym typeface="Nunito Bold"/>
              </a:rPr>
              <a:t>Course Management System</a:t>
            </a:r>
          </a:p>
        </p:txBody>
      </p:sp>
      <p:sp>
        <p:nvSpPr>
          <p:cNvPr name="TextBox 30" id="30"/>
          <p:cNvSpPr txBox="true"/>
          <p:nvPr/>
        </p:nvSpPr>
        <p:spPr>
          <a:xfrm rot="0">
            <a:off x="1293462" y="8442900"/>
            <a:ext cx="7024733" cy="1323171"/>
          </a:xfrm>
          <a:prstGeom prst="rect">
            <a:avLst/>
          </a:prstGeom>
        </p:spPr>
        <p:txBody>
          <a:bodyPr anchor="t" rtlCol="false" tIns="0" lIns="0" bIns="0" rIns="0">
            <a:spAutoFit/>
          </a:bodyPr>
          <a:lstStyle/>
          <a:p>
            <a:pPr algn="just">
              <a:lnSpc>
                <a:spcPts val="2669"/>
              </a:lnSpc>
              <a:spcBef>
                <a:spcPct val="0"/>
              </a:spcBef>
            </a:pPr>
            <a:r>
              <a:rPr lang="en-US" sz="1906">
                <a:solidFill>
                  <a:srgbClr val="FFFFFF"/>
                </a:solidFill>
                <a:latin typeface="Nunito"/>
                <a:ea typeface="Nunito"/>
                <a:cs typeface="Nunito"/>
                <a:sym typeface="Nunito"/>
              </a:rPr>
              <a:t>S</a:t>
            </a:r>
            <a:r>
              <a:rPr lang="en-US" sz="1906">
                <a:solidFill>
                  <a:srgbClr val="FFFFFF"/>
                </a:solidFill>
                <a:latin typeface="Nunito"/>
                <a:ea typeface="Nunito"/>
                <a:cs typeface="Nunito"/>
                <a:sym typeface="Nunito"/>
              </a:rPr>
              <a:t>tudents will be able to add, manage, and view their courses in a dedicated section.After adding a course, they will be able to select it directly in the Risk Prediction page and receive course-specific risk assessments.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true" flipV="false" rot="-10800000">
            <a:off x="-286411" y="-257175"/>
            <a:ext cx="4162891" cy="3554068"/>
          </a:xfrm>
          <a:custGeom>
            <a:avLst/>
            <a:gdLst/>
            <a:ahLst/>
            <a:cxnLst/>
            <a:rect r="r" b="b" t="t" l="l"/>
            <a:pathLst>
              <a:path h="3554068" w="4162891">
                <a:moveTo>
                  <a:pt x="4162891" y="0"/>
                </a:moveTo>
                <a:lnTo>
                  <a:pt x="0" y="0"/>
                </a:lnTo>
                <a:lnTo>
                  <a:pt x="0" y="3554068"/>
                </a:lnTo>
                <a:lnTo>
                  <a:pt x="4162891" y="3554068"/>
                </a:lnTo>
                <a:lnTo>
                  <a:pt x="4162891"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4780620" y="7400881"/>
            <a:ext cx="3682330" cy="3143789"/>
          </a:xfrm>
          <a:custGeom>
            <a:avLst/>
            <a:gdLst/>
            <a:ahLst/>
            <a:cxnLst/>
            <a:rect r="r" b="b" t="t" l="l"/>
            <a:pathLst>
              <a:path h="3143789" w="3682330">
                <a:moveTo>
                  <a:pt x="3682330" y="0"/>
                </a:moveTo>
                <a:lnTo>
                  <a:pt x="0" y="0"/>
                </a:lnTo>
                <a:lnTo>
                  <a:pt x="0" y="3143788"/>
                </a:lnTo>
                <a:lnTo>
                  <a:pt x="3682330" y="3143788"/>
                </a:lnTo>
                <a:lnTo>
                  <a:pt x="368233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513192" y="8503992"/>
            <a:ext cx="3083785" cy="2790825"/>
          </a:xfrm>
          <a:custGeom>
            <a:avLst/>
            <a:gdLst/>
            <a:ahLst/>
            <a:cxnLst/>
            <a:rect r="r" b="b" t="t" l="l"/>
            <a:pathLst>
              <a:path h="2790825" w="3083785">
                <a:moveTo>
                  <a:pt x="0" y="0"/>
                </a:moveTo>
                <a:lnTo>
                  <a:pt x="3083784" y="0"/>
                </a:lnTo>
                <a:lnTo>
                  <a:pt x="3083784" y="2790825"/>
                </a:lnTo>
                <a:lnTo>
                  <a:pt x="0" y="279082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6" id="6"/>
          <p:cNvSpPr txBox="true"/>
          <p:nvPr/>
        </p:nvSpPr>
        <p:spPr>
          <a:xfrm rot="0">
            <a:off x="4707398" y="3157853"/>
            <a:ext cx="8873204" cy="3685544"/>
          </a:xfrm>
          <a:prstGeom prst="rect">
            <a:avLst/>
          </a:prstGeom>
        </p:spPr>
        <p:txBody>
          <a:bodyPr anchor="t" rtlCol="false" tIns="0" lIns="0" bIns="0" rIns="0">
            <a:spAutoFit/>
          </a:bodyPr>
          <a:lstStyle/>
          <a:p>
            <a:pPr algn="just">
              <a:lnSpc>
                <a:spcPts val="14415"/>
              </a:lnSpc>
              <a:spcBef>
                <a:spcPct val="0"/>
              </a:spcBef>
            </a:pPr>
            <a:r>
              <a:rPr lang="en-US" b="true" sz="10296">
                <a:solidFill>
                  <a:srgbClr val="000000"/>
                </a:solidFill>
                <a:latin typeface="Poppins Bold"/>
                <a:ea typeface="Poppins Bold"/>
                <a:cs typeface="Poppins Bold"/>
                <a:sym typeface="Poppins Bold"/>
              </a:rPr>
              <a:t>TH</a:t>
            </a:r>
            <a:r>
              <a:rPr lang="en-US" b="true" sz="10296">
                <a:solidFill>
                  <a:srgbClr val="000000"/>
                </a:solidFill>
                <a:latin typeface="Poppins Bold"/>
                <a:ea typeface="Poppins Bold"/>
                <a:cs typeface="Poppins Bold"/>
                <a:sym typeface="Poppins Bold"/>
              </a:rPr>
              <a:t>ANK YOU</a:t>
            </a:r>
          </a:p>
          <a:p>
            <a:pPr algn="just">
              <a:lnSpc>
                <a:spcPts val="14415"/>
              </a:lnSpc>
              <a:spcBef>
                <a:spcPct val="0"/>
              </a:spcBef>
            </a:pPr>
            <a:r>
              <a:rPr lang="en-US" b="true" sz="10296">
                <a:solidFill>
                  <a:srgbClr val="000000"/>
                </a:solidFill>
                <a:latin typeface="Poppins Bold"/>
                <a:ea typeface="Poppins Bold"/>
                <a:cs typeface="Poppins Bold"/>
                <a:sym typeface="Poppins Bold"/>
              </a:rPr>
              <a:t>QUESTIONS?</a:t>
            </a:r>
          </a:p>
        </p:txBody>
      </p:sp>
      <p:sp>
        <p:nvSpPr>
          <p:cNvPr name="Freeform 7" id="7"/>
          <p:cNvSpPr/>
          <p:nvPr/>
        </p:nvSpPr>
        <p:spPr>
          <a:xfrm flipH="false" flipV="false" rot="0">
            <a:off x="14409277" y="2176237"/>
            <a:ext cx="3457213" cy="8110763"/>
          </a:xfrm>
          <a:custGeom>
            <a:avLst/>
            <a:gdLst/>
            <a:ahLst/>
            <a:cxnLst/>
            <a:rect r="r" b="b" t="t" l="l"/>
            <a:pathLst>
              <a:path h="8110763" w="3457213">
                <a:moveTo>
                  <a:pt x="0" y="0"/>
                </a:moveTo>
                <a:lnTo>
                  <a:pt x="3457213" y="0"/>
                </a:lnTo>
                <a:lnTo>
                  <a:pt x="3457213" y="8110763"/>
                </a:lnTo>
                <a:lnTo>
                  <a:pt x="0" y="811076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16461778" y="-790654"/>
            <a:ext cx="3083785" cy="2790825"/>
          </a:xfrm>
          <a:custGeom>
            <a:avLst/>
            <a:gdLst/>
            <a:ahLst/>
            <a:cxnLst/>
            <a:rect r="r" b="b" t="t" l="l"/>
            <a:pathLst>
              <a:path h="2790825" w="3083785">
                <a:moveTo>
                  <a:pt x="0" y="0"/>
                </a:moveTo>
                <a:lnTo>
                  <a:pt x="3083784" y="0"/>
                </a:lnTo>
                <a:lnTo>
                  <a:pt x="3083784" y="2790825"/>
                </a:lnTo>
                <a:lnTo>
                  <a:pt x="0" y="279082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DAHK-jZTApc</dc:identifier>
  <dcterms:modified xsi:type="dcterms:W3CDTF">2011-08-01T06:04:30Z</dcterms:modified>
  <cp:revision>1</cp:revision>
  <dc:title>AI_SE04_Studor_Presentation</dc:title>
</cp:coreProperties>
</file>